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55021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9692640" y="-1645920"/>
            <a:ext cx="5029200" cy="5029200"/>
          </a:xfrm>
          <a:prstGeom prst="ellipse">
            <a:avLst/>
          </a:prstGeom>
          <a:solidFill>
            <a:srgbClr val="0F766E">
              <a:alpha val="30000"/>
            </a:srgbClr>
          </a:solidFill>
          <a:ln/>
        </p:spPr>
      </p:sp>
      <p:sp>
        <p:nvSpPr>
          <p:cNvPr id="3" name="Shape 1"/>
          <p:cNvSpPr/>
          <p:nvPr/>
        </p:nvSpPr>
        <p:spPr>
          <a:xfrm>
            <a:off x="-1463040" y="4754880"/>
            <a:ext cx="3840480" cy="3840480"/>
          </a:xfrm>
          <a:prstGeom prst="ellipse">
            <a:avLst/>
          </a:prstGeom>
          <a:solidFill>
            <a:srgbClr val="F59E0B">
              <a:alpha val="15000"/>
            </a:srgbClr>
          </a:solidFill>
          <a:ln/>
        </p:spPr>
      </p:sp>
      <p:sp>
        <p:nvSpPr>
          <p:cNvPr id="4" name="Text 2"/>
          <p:cNvSpPr/>
          <p:nvPr/>
        </p:nvSpPr>
        <p:spPr>
          <a:xfrm>
            <a:off x="822960" y="2240280"/>
            <a:ext cx="10515600" cy="548640"/>
          </a:xfrm>
          <a:prstGeom prst="rect">
            <a:avLst/>
          </a:prstGeom>
          <a:noFill/>
          <a:ln/>
        </p:spPr>
        <p:txBody>
          <a:bodyPr wrap="square" lIns="0" tIns="0" rIns="0" bIns="0" rtlCol="0" anchor="ctr"/>
          <a:lstStyle/>
          <a:p>
            <a:pPr marL="0" indent="0">
              <a:buNone/>
            </a:pPr>
            <a:r>
              <a:rPr lang="en-US" sz="2000" b="1" kern="0" spc="200" dirty="0">
                <a:solidFill>
                  <a:srgbClr val="14B8A6"/>
                </a:solidFill>
                <a:latin typeface="游ゴシック" pitchFamily="34" charset="0"/>
                <a:ea typeface="游ゴシック" pitchFamily="34" charset="-122"/>
                <a:cs typeface="游ゴシック" pitchFamily="34" charset="-120"/>
              </a:rPr>
              <a:t>amista 管理画面</a:t>
            </a:r>
            <a:endParaRPr lang="en-US" sz="2000" dirty="0"/>
          </a:p>
        </p:txBody>
      </p:sp>
      <p:sp>
        <p:nvSpPr>
          <p:cNvPr id="5" name="Text 3"/>
          <p:cNvSpPr/>
          <p:nvPr/>
        </p:nvSpPr>
        <p:spPr>
          <a:xfrm>
            <a:off x="777240" y="26974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游ゴシック" pitchFamily="34" charset="0"/>
                <a:ea typeface="游ゴシック" pitchFamily="34" charset="-122"/>
                <a:cs typeface="游ゴシック" pitchFamily="34" charset="-120"/>
              </a:rPr>
              <a:t>操作手順書</a:t>
            </a:r>
            <a:endParaRPr lang="en-US" sz="4000" dirty="0"/>
          </a:p>
        </p:txBody>
      </p:sp>
      <p:sp>
        <p:nvSpPr>
          <p:cNvPr id="6" name="Text 4"/>
          <p:cNvSpPr/>
          <p:nvPr/>
        </p:nvSpPr>
        <p:spPr>
          <a:xfrm>
            <a:off x="822960" y="3703320"/>
            <a:ext cx="9875520" cy="822960"/>
          </a:xfrm>
          <a:prstGeom prst="rect">
            <a:avLst/>
          </a:prstGeom>
          <a:noFill/>
          <a:ln/>
        </p:spPr>
        <p:txBody>
          <a:bodyPr wrap="square" lIns="0" tIns="0" rIns="0" bIns="0" rtlCol="0" anchor="ctr"/>
          <a:lstStyle/>
          <a:p>
            <a:pPr marL="0" indent="0">
              <a:lnSpc>
                <a:spcPct val="130000"/>
              </a:lnSpc>
              <a:buNone/>
            </a:pPr>
            <a:r>
              <a:rPr lang="en-US" sz="1300" dirty="0">
                <a:solidFill>
                  <a:srgbClr val="A1A1AA"/>
                </a:solidFill>
                <a:latin typeface="游ゴシック" pitchFamily="34" charset="0"/>
                <a:ea typeface="游ゴシック" pitchFamily="34" charset="-122"/>
                <a:cs typeface="游ゴシック" pitchFamily="34" charset="-120"/>
              </a:rPr>
              <a:t>各画面のステータス(状態)の意味、操作の手順に加えて、注意すべきポイント・必ず確認すべき項目もまとめています。</a:t>
            </a:r>
            <a:endParaRPr lang="en-US" sz="1300" dirty="0"/>
          </a:p>
          <a:p>
            <a:pPr marL="0" indent="0">
              <a:lnSpc>
                <a:spcPct val="130000"/>
              </a:lnSpc>
              <a:buNone/>
            </a:pPr>
            <a:r>
              <a:rPr lang="en-US" sz="1300" dirty="0">
                <a:solidFill>
                  <a:srgbClr val="A1A1AA"/>
                </a:solidFill>
                <a:latin typeface="游ゴシック" pitchFamily="34" charset="0"/>
                <a:ea typeface="游ゴシック" pitchFamily="34" charset="-122"/>
                <a:cs typeface="游ゴシック" pitchFamily="34" charset="-120"/>
              </a:rPr>
              <a:t>「できる事・できない事 手順書」の補足資料です。</a:t>
            </a:r>
            <a:endParaRPr lang="en-US" sz="1300" dirty="0"/>
          </a:p>
        </p:txBody>
      </p:sp>
      <p:sp>
        <p:nvSpPr>
          <p:cNvPr id="7" name="Shape 5"/>
          <p:cNvSpPr/>
          <p:nvPr/>
        </p:nvSpPr>
        <p:spPr>
          <a:xfrm>
            <a:off x="822960" y="4709160"/>
            <a:ext cx="7498080" cy="502920"/>
          </a:xfrm>
          <a:prstGeom prst="roundRect">
            <a:avLst>
              <a:gd name="adj" fmla="val 18182"/>
            </a:avLst>
          </a:prstGeom>
          <a:solidFill>
            <a:srgbClr val="27272A"/>
          </a:solidFill>
          <a:ln w="12700">
            <a:solidFill>
              <a:srgbClr val="EF4444"/>
            </a:solidFill>
            <a:prstDash val="solid"/>
          </a:ln>
        </p:spPr>
      </p:sp>
      <p:sp>
        <p:nvSpPr>
          <p:cNvPr id="8" name="Text 6"/>
          <p:cNvSpPr/>
          <p:nvPr/>
        </p:nvSpPr>
        <p:spPr>
          <a:xfrm>
            <a:off x="1005840" y="4709160"/>
            <a:ext cx="7132320" cy="502920"/>
          </a:xfrm>
          <a:prstGeom prst="rect">
            <a:avLst/>
          </a:prstGeom>
          <a:noFill/>
          <a:ln/>
        </p:spPr>
        <p:txBody>
          <a:bodyPr wrap="square" lIns="0" tIns="0" rIns="0" bIns="0" rtlCol="0" anchor="ctr"/>
          <a:lstStyle/>
          <a:p>
            <a:pPr marL="0" indent="0">
              <a:buNone/>
            </a:pPr>
            <a:r>
              <a:rPr lang="en-US" sz="1300" b="1" dirty="0">
                <a:solidFill>
                  <a:srgbClr val="A1A1AA"/>
                </a:solidFill>
                <a:latin typeface="游ゴシック" pitchFamily="34" charset="0"/>
                <a:ea typeface="游ゴシック" pitchFamily="34" charset="-122"/>
                <a:cs typeface="游ゴシック" pitchFamily="34" charset="-120"/>
              </a:rPr>
              <a:t>凡例:  </a:t>
            </a:r>
            <a:r>
              <a:rPr lang="en-US" sz="130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300" dirty="0"/>
          </a:p>
        </p:txBody>
      </p:sp>
      <p:sp>
        <p:nvSpPr>
          <p:cNvPr id="9" name="Text 7"/>
          <p:cNvSpPr/>
          <p:nvPr/>
        </p:nvSpPr>
        <p:spPr>
          <a:xfrm>
            <a:off x="822960" y="6263640"/>
            <a:ext cx="7315200" cy="365760"/>
          </a:xfrm>
          <a:prstGeom prst="rect">
            <a:avLst/>
          </a:prstGeom>
          <a:noFill/>
          <a:ln/>
        </p:spPr>
        <p:txBody>
          <a:bodyPr wrap="square" lIns="0" tIns="0" rIns="0" bIns="0" rtlCol="0" anchor="ctr"/>
          <a:lstStyle/>
          <a:p>
            <a:pPr marL="0" indent="0">
              <a:buNone/>
            </a:pPr>
            <a:r>
              <a:rPr lang="en-US" sz="1100" dirty="0">
                <a:solidFill>
                  <a:srgbClr val="A1A1AA"/>
                </a:solidFill>
                <a:latin typeface="游ゴシック" pitchFamily="34" charset="0"/>
                <a:ea typeface="游ゴシック" pitchFamily="34" charset="-122"/>
                <a:cs typeface="游ゴシック" pitchFamily="34" charset="-120"/>
              </a:rPr>
              <a:t>amista プロジェクト  ｜  作成日：2026年7月21日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181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640080"/>
          </a:xfrm>
          <a:prstGeom prst="rect">
            <a:avLst/>
          </a:prstGeom>
          <a:noFill/>
          <a:ln/>
        </p:spPr>
        <p:txBody>
          <a:bodyPr wrap="square" lIns="0" tIns="0" rIns="0" bIns="0" rtlCol="0" anchor="ctr"/>
          <a:lstStyle/>
          <a:p>
            <a:pPr marL="0" indent="0">
              <a:buNone/>
            </a:pPr>
            <a:r>
              <a:rPr lang="en-US" sz="3000" b="1" dirty="0">
                <a:solidFill>
                  <a:srgbClr val="FFFFFF"/>
                </a:solidFill>
                <a:latin typeface="游ゴシック" pitchFamily="34" charset="0"/>
                <a:ea typeface="游ゴシック" pitchFamily="34" charset="-122"/>
                <a:cs typeface="游ゴシック" pitchFamily="34" charset="-120"/>
              </a:rPr>
              <a:t>目次</a:t>
            </a:r>
            <a:endParaRPr lang="en-US" sz="3000" dirty="0"/>
          </a:p>
        </p:txBody>
      </p:sp>
      <p:sp>
        <p:nvSpPr>
          <p:cNvPr id="3" name="Text 1"/>
          <p:cNvSpPr/>
          <p:nvPr/>
        </p:nvSpPr>
        <p:spPr>
          <a:xfrm>
            <a:off x="548640" y="960120"/>
            <a:ext cx="9144000" cy="365760"/>
          </a:xfrm>
          <a:prstGeom prst="rect">
            <a:avLst/>
          </a:prstGeom>
          <a:noFill/>
          <a:ln/>
        </p:spPr>
        <p:txBody>
          <a:bodyPr wrap="square" lIns="0" tIns="0" rIns="0" bIns="0" rtlCol="0" anchor="ctr"/>
          <a:lstStyle/>
          <a:p>
            <a:pPr marL="0" indent="0">
              <a:buNone/>
            </a:pPr>
            <a:r>
              <a:rPr lang="en-US" sz="1300" dirty="0">
                <a:solidFill>
                  <a:srgbClr val="A1A1AA"/>
                </a:solidFill>
                <a:latin typeface="游ゴシック" pitchFamily="34" charset="0"/>
                <a:ea typeface="游ゴシック" pitchFamily="34" charset="-122"/>
                <a:cs typeface="游ゴシック" pitchFamily="34" charset="-120"/>
              </a:rPr>
              <a:t>この手順書で扱う画面(本人確認審査は一覧・詳細の2画面に分けて解説)</a:t>
            </a:r>
            <a:endParaRPr lang="en-US" sz="1300" dirty="0"/>
          </a:p>
        </p:txBody>
      </p:sp>
      <p:sp>
        <p:nvSpPr>
          <p:cNvPr id="4" name="Shape 2"/>
          <p:cNvSpPr/>
          <p:nvPr/>
        </p:nvSpPr>
        <p:spPr>
          <a:xfrm>
            <a:off x="548640" y="1554480"/>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5" name="Shape 3"/>
          <p:cNvSpPr/>
          <p:nvPr/>
        </p:nvSpPr>
        <p:spPr>
          <a:xfrm>
            <a:off x="749808" y="1755648"/>
            <a:ext cx="420624" cy="420624"/>
          </a:xfrm>
          <a:prstGeom prst="ellipse">
            <a:avLst/>
          </a:prstGeom>
          <a:solidFill>
            <a:srgbClr val="0F766E"/>
          </a:solidFill>
          <a:ln/>
        </p:spPr>
      </p:sp>
      <p:sp>
        <p:nvSpPr>
          <p:cNvPr id="6" name="Text 4"/>
          <p:cNvSpPr/>
          <p:nvPr/>
        </p:nvSpPr>
        <p:spPr>
          <a:xfrm>
            <a:off x="749808" y="1755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1</a:t>
            </a:r>
            <a:endParaRPr lang="en-US" sz="1300" dirty="0"/>
          </a:p>
        </p:txBody>
      </p:sp>
      <p:sp>
        <p:nvSpPr>
          <p:cNvPr id="7" name="Text 5"/>
          <p:cNvSpPr/>
          <p:nvPr/>
        </p:nvSpPr>
        <p:spPr>
          <a:xfrm>
            <a:off x="1298448" y="1682496"/>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ダッシュボード</a:t>
            </a:r>
            <a:endParaRPr lang="en-US" sz="1200" dirty="0"/>
          </a:p>
        </p:txBody>
      </p:sp>
      <p:sp>
        <p:nvSpPr>
          <p:cNvPr id="8" name="Text 6"/>
          <p:cNvSpPr/>
          <p:nvPr/>
        </p:nvSpPr>
        <p:spPr>
          <a:xfrm>
            <a:off x="749808" y="2331720"/>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a:t>
            </a:r>
            <a:endParaRPr lang="en-US" sz="950" dirty="0"/>
          </a:p>
        </p:txBody>
      </p:sp>
      <p:sp>
        <p:nvSpPr>
          <p:cNvPr id="9" name="Shape 7"/>
          <p:cNvSpPr/>
          <p:nvPr/>
        </p:nvSpPr>
        <p:spPr>
          <a:xfrm>
            <a:off x="4389120" y="1554480"/>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10" name="Shape 8"/>
          <p:cNvSpPr/>
          <p:nvPr/>
        </p:nvSpPr>
        <p:spPr>
          <a:xfrm>
            <a:off x="4590288" y="1755648"/>
            <a:ext cx="420624" cy="420624"/>
          </a:xfrm>
          <a:prstGeom prst="ellipse">
            <a:avLst/>
          </a:prstGeom>
          <a:solidFill>
            <a:srgbClr val="0F766E"/>
          </a:solidFill>
          <a:ln/>
        </p:spPr>
      </p:sp>
      <p:sp>
        <p:nvSpPr>
          <p:cNvPr id="11" name="Text 9"/>
          <p:cNvSpPr/>
          <p:nvPr/>
        </p:nvSpPr>
        <p:spPr>
          <a:xfrm>
            <a:off x="4590288" y="1755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2</a:t>
            </a:r>
            <a:endParaRPr lang="en-US" sz="1300" dirty="0"/>
          </a:p>
        </p:txBody>
      </p:sp>
      <p:sp>
        <p:nvSpPr>
          <p:cNvPr id="12" name="Text 10"/>
          <p:cNvSpPr/>
          <p:nvPr/>
        </p:nvSpPr>
        <p:spPr>
          <a:xfrm>
            <a:off x="5138928" y="1682496"/>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会員管理・プロフィール管理</a:t>
            </a:r>
            <a:endParaRPr lang="en-US" sz="1200" dirty="0"/>
          </a:p>
        </p:txBody>
      </p:sp>
      <p:sp>
        <p:nvSpPr>
          <p:cNvPr id="13" name="Text 11"/>
          <p:cNvSpPr/>
          <p:nvPr/>
        </p:nvSpPr>
        <p:spPr>
          <a:xfrm>
            <a:off x="4590288" y="2331720"/>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/admin/members</a:t>
            </a:r>
            <a:endParaRPr lang="en-US" sz="950" dirty="0"/>
          </a:p>
        </p:txBody>
      </p:sp>
      <p:sp>
        <p:nvSpPr>
          <p:cNvPr id="14" name="Shape 12"/>
          <p:cNvSpPr/>
          <p:nvPr/>
        </p:nvSpPr>
        <p:spPr>
          <a:xfrm>
            <a:off x="8229600" y="1554480"/>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15" name="Shape 13"/>
          <p:cNvSpPr/>
          <p:nvPr/>
        </p:nvSpPr>
        <p:spPr>
          <a:xfrm>
            <a:off x="8430768" y="1755648"/>
            <a:ext cx="420624" cy="420624"/>
          </a:xfrm>
          <a:prstGeom prst="ellipse">
            <a:avLst/>
          </a:prstGeom>
          <a:solidFill>
            <a:srgbClr val="0F766E"/>
          </a:solidFill>
          <a:ln/>
        </p:spPr>
      </p:sp>
      <p:sp>
        <p:nvSpPr>
          <p:cNvPr id="16" name="Text 14"/>
          <p:cNvSpPr/>
          <p:nvPr/>
        </p:nvSpPr>
        <p:spPr>
          <a:xfrm>
            <a:off x="8430768" y="1755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3</a:t>
            </a:r>
            <a:endParaRPr lang="en-US" sz="1300" dirty="0"/>
          </a:p>
        </p:txBody>
      </p:sp>
      <p:sp>
        <p:nvSpPr>
          <p:cNvPr id="17" name="Text 15"/>
          <p:cNvSpPr/>
          <p:nvPr/>
        </p:nvSpPr>
        <p:spPr>
          <a:xfrm>
            <a:off x="8979408" y="1682496"/>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本人確認審査(一覧)</a:t>
            </a:r>
            <a:endParaRPr lang="en-US" sz="1200" dirty="0"/>
          </a:p>
        </p:txBody>
      </p:sp>
      <p:sp>
        <p:nvSpPr>
          <p:cNvPr id="18" name="Text 16"/>
          <p:cNvSpPr/>
          <p:nvPr/>
        </p:nvSpPr>
        <p:spPr>
          <a:xfrm>
            <a:off x="8430768" y="2331720"/>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/admin/verify</a:t>
            </a:r>
            <a:endParaRPr lang="en-US" sz="950" dirty="0"/>
          </a:p>
        </p:txBody>
      </p:sp>
      <p:sp>
        <p:nvSpPr>
          <p:cNvPr id="19" name="Shape 17"/>
          <p:cNvSpPr/>
          <p:nvPr/>
        </p:nvSpPr>
        <p:spPr>
          <a:xfrm>
            <a:off x="548640" y="3035808"/>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20" name="Shape 18"/>
          <p:cNvSpPr/>
          <p:nvPr/>
        </p:nvSpPr>
        <p:spPr>
          <a:xfrm>
            <a:off x="749808" y="3236976"/>
            <a:ext cx="420624" cy="420624"/>
          </a:xfrm>
          <a:prstGeom prst="ellipse">
            <a:avLst/>
          </a:prstGeom>
          <a:solidFill>
            <a:srgbClr val="0F766E"/>
          </a:solidFill>
          <a:ln/>
        </p:spPr>
      </p:sp>
      <p:sp>
        <p:nvSpPr>
          <p:cNvPr id="21" name="Text 19"/>
          <p:cNvSpPr/>
          <p:nvPr/>
        </p:nvSpPr>
        <p:spPr>
          <a:xfrm>
            <a:off x="749808" y="32369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3b</a:t>
            </a:r>
            <a:endParaRPr lang="en-US" sz="1300" dirty="0"/>
          </a:p>
        </p:txBody>
      </p:sp>
      <p:sp>
        <p:nvSpPr>
          <p:cNvPr id="22" name="Text 20"/>
          <p:cNvSpPr/>
          <p:nvPr/>
        </p:nvSpPr>
        <p:spPr>
          <a:xfrm>
            <a:off x="1298448" y="3163824"/>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本人確認審査(詳細)</a:t>
            </a:r>
            <a:endParaRPr lang="en-US" sz="1200" dirty="0"/>
          </a:p>
        </p:txBody>
      </p:sp>
      <p:sp>
        <p:nvSpPr>
          <p:cNvPr id="23" name="Text 21"/>
          <p:cNvSpPr/>
          <p:nvPr/>
        </p:nvSpPr>
        <p:spPr>
          <a:xfrm>
            <a:off x="749808" y="3813048"/>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/admin/verify/[id]</a:t>
            </a:r>
            <a:endParaRPr lang="en-US" sz="950" dirty="0"/>
          </a:p>
        </p:txBody>
      </p:sp>
      <p:sp>
        <p:nvSpPr>
          <p:cNvPr id="24" name="Shape 22"/>
          <p:cNvSpPr/>
          <p:nvPr/>
        </p:nvSpPr>
        <p:spPr>
          <a:xfrm>
            <a:off x="4389120" y="3035808"/>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25" name="Shape 23"/>
          <p:cNvSpPr/>
          <p:nvPr/>
        </p:nvSpPr>
        <p:spPr>
          <a:xfrm>
            <a:off x="4590288" y="3236976"/>
            <a:ext cx="420624" cy="420624"/>
          </a:xfrm>
          <a:prstGeom prst="ellipse">
            <a:avLst/>
          </a:prstGeom>
          <a:solidFill>
            <a:srgbClr val="0F766E"/>
          </a:solidFill>
          <a:ln/>
        </p:spPr>
      </p:sp>
      <p:sp>
        <p:nvSpPr>
          <p:cNvPr id="26" name="Text 24"/>
          <p:cNvSpPr/>
          <p:nvPr/>
        </p:nvSpPr>
        <p:spPr>
          <a:xfrm>
            <a:off x="4590288" y="32369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4</a:t>
            </a:r>
            <a:endParaRPr lang="en-US" sz="1300" dirty="0"/>
          </a:p>
        </p:txBody>
      </p:sp>
      <p:sp>
        <p:nvSpPr>
          <p:cNvPr id="27" name="Text 25"/>
          <p:cNvSpPr/>
          <p:nvPr/>
        </p:nvSpPr>
        <p:spPr>
          <a:xfrm>
            <a:off x="5138928" y="3163824"/>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申請管理</a:t>
            </a:r>
            <a:endParaRPr lang="en-US" sz="1200" dirty="0"/>
          </a:p>
        </p:txBody>
      </p:sp>
      <p:sp>
        <p:nvSpPr>
          <p:cNvPr id="28" name="Text 26"/>
          <p:cNvSpPr/>
          <p:nvPr/>
        </p:nvSpPr>
        <p:spPr>
          <a:xfrm>
            <a:off x="4590288" y="3813048"/>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/admin/matching</a:t>
            </a:r>
            <a:endParaRPr lang="en-US" sz="950" dirty="0"/>
          </a:p>
        </p:txBody>
      </p:sp>
      <p:sp>
        <p:nvSpPr>
          <p:cNvPr id="29" name="Shape 27"/>
          <p:cNvSpPr/>
          <p:nvPr/>
        </p:nvSpPr>
        <p:spPr>
          <a:xfrm>
            <a:off x="8229600" y="3035808"/>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30" name="Shape 28"/>
          <p:cNvSpPr/>
          <p:nvPr/>
        </p:nvSpPr>
        <p:spPr>
          <a:xfrm>
            <a:off x="8430768" y="3236976"/>
            <a:ext cx="420624" cy="420624"/>
          </a:xfrm>
          <a:prstGeom prst="ellipse">
            <a:avLst/>
          </a:prstGeom>
          <a:solidFill>
            <a:srgbClr val="0F766E"/>
          </a:solidFill>
          <a:ln/>
        </p:spPr>
      </p:sp>
      <p:sp>
        <p:nvSpPr>
          <p:cNvPr id="31" name="Text 29"/>
          <p:cNvSpPr/>
          <p:nvPr/>
        </p:nvSpPr>
        <p:spPr>
          <a:xfrm>
            <a:off x="8430768" y="32369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5</a:t>
            </a:r>
            <a:endParaRPr lang="en-US" sz="1300" dirty="0"/>
          </a:p>
        </p:txBody>
      </p:sp>
      <p:sp>
        <p:nvSpPr>
          <p:cNvPr id="32" name="Text 30"/>
          <p:cNvSpPr/>
          <p:nvPr/>
        </p:nvSpPr>
        <p:spPr>
          <a:xfrm>
            <a:off x="8979408" y="3163824"/>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日程管理</a:t>
            </a:r>
            <a:endParaRPr lang="en-US" sz="1200" dirty="0"/>
          </a:p>
        </p:txBody>
      </p:sp>
      <p:sp>
        <p:nvSpPr>
          <p:cNvPr id="33" name="Text 31"/>
          <p:cNvSpPr/>
          <p:nvPr/>
        </p:nvSpPr>
        <p:spPr>
          <a:xfrm>
            <a:off x="8430768" y="3813048"/>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/admin/schedule</a:t>
            </a:r>
            <a:endParaRPr lang="en-US" sz="950" dirty="0"/>
          </a:p>
        </p:txBody>
      </p:sp>
      <p:sp>
        <p:nvSpPr>
          <p:cNvPr id="34" name="Shape 32"/>
          <p:cNvSpPr/>
          <p:nvPr/>
        </p:nvSpPr>
        <p:spPr>
          <a:xfrm>
            <a:off x="548640" y="4517136"/>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35" name="Shape 33"/>
          <p:cNvSpPr/>
          <p:nvPr/>
        </p:nvSpPr>
        <p:spPr>
          <a:xfrm>
            <a:off x="749808" y="4718304"/>
            <a:ext cx="420624" cy="420624"/>
          </a:xfrm>
          <a:prstGeom prst="ellipse">
            <a:avLst/>
          </a:prstGeom>
          <a:solidFill>
            <a:srgbClr val="0F766E"/>
          </a:solidFill>
          <a:ln/>
        </p:spPr>
      </p:sp>
      <p:sp>
        <p:nvSpPr>
          <p:cNvPr id="36" name="Text 34"/>
          <p:cNvSpPr/>
          <p:nvPr/>
        </p:nvSpPr>
        <p:spPr>
          <a:xfrm>
            <a:off x="749808" y="471830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6</a:t>
            </a:r>
            <a:endParaRPr lang="en-US" sz="1300" dirty="0"/>
          </a:p>
        </p:txBody>
      </p:sp>
      <p:sp>
        <p:nvSpPr>
          <p:cNvPr id="37" name="Text 35"/>
          <p:cNvSpPr/>
          <p:nvPr/>
        </p:nvSpPr>
        <p:spPr>
          <a:xfrm>
            <a:off x="1298448" y="4645152"/>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休眠会員</a:t>
            </a:r>
            <a:endParaRPr lang="en-US" sz="1200" dirty="0"/>
          </a:p>
        </p:txBody>
      </p:sp>
      <p:sp>
        <p:nvSpPr>
          <p:cNvPr id="38" name="Text 36"/>
          <p:cNvSpPr/>
          <p:nvPr/>
        </p:nvSpPr>
        <p:spPr>
          <a:xfrm>
            <a:off x="749808" y="5294376"/>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/admin/dormant</a:t>
            </a:r>
            <a:endParaRPr lang="en-US" sz="950" dirty="0"/>
          </a:p>
        </p:txBody>
      </p:sp>
      <p:sp>
        <p:nvSpPr>
          <p:cNvPr id="39" name="Shape 37"/>
          <p:cNvSpPr/>
          <p:nvPr/>
        </p:nvSpPr>
        <p:spPr>
          <a:xfrm>
            <a:off x="4389120" y="4517136"/>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40" name="Shape 38"/>
          <p:cNvSpPr/>
          <p:nvPr/>
        </p:nvSpPr>
        <p:spPr>
          <a:xfrm>
            <a:off x="4590288" y="4718304"/>
            <a:ext cx="420624" cy="420624"/>
          </a:xfrm>
          <a:prstGeom prst="ellipse">
            <a:avLst/>
          </a:prstGeom>
          <a:solidFill>
            <a:srgbClr val="0F766E"/>
          </a:solidFill>
          <a:ln/>
        </p:spPr>
      </p:sp>
      <p:sp>
        <p:nvSpPr>
          <p:cNvPr id="41" name="Text 39"/>
          <p:cNvSpPr/>
          <p:nvPr/>
        </p:nvSpPr>
        <p:spPr>
          <a:xfrm>
            <a:off x="4590288" y="471830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7</a:t>
            </a:r>
            <a:endParaRPr lang="en-US" sz="1300" dirty="0"/>
          </a:p>
        </p:txBody>
      </p:sp>
      <p:sp>
        <p:nvSpPr>
          <p:cNvPr id="42" name="Text 40"/>
          <p:cNvSpPr/>
          <p:nvPr/>
        </p:nvSpPr>
        <p:spPr>
          <a:xfrm>
            <a:off x="5138928" y="4645152"/>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データ出力</a:t>
            </a:r>
            <a:endParaRPr lang="en-US" sz="1200" dirty="0"/>
          </a:p>
        </p:txBody>
      </p:sp>
      <p:sp>
        <p:nvSpPr>
          <p:cNvPr id="43" name="Text 41"/>
          <p:cNvSpPr/>
          <p:nvPr/>
        </p:nvSpPr>
        <p:spPr>
          <a:xfrm>
            <a:off x="4590288" y="5294376"/>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/admin/export</a:t>
            </a:r>
            <a:endParaRPr lang="en-US" sz="950" dirty="0"/>
          </a:p>
        </p:txBody>
      </p:sp>
      <p:sp>
        <p:nvSpPr>
          <p:cNvPr id="44" name="Shape 42"/>
          <p:cNvSpPr/>
          <p:nvPr/>
        </p:nvSpPr>
        <p:spPr>
          <a:xfrm>
            <a:off x="8229600" y="4517136"/>
            <a:ext cx="3611880" cy="1280160"/>
          </a:xfrm>
          <a:prstGeom prst="roundRect">
            <a:avLst>
              <a:gd name="adj" fmla="val 5714"/>
            </a:avLst>
          </a:prstGeom>
          <a:solidFill>
            <a:srgbClr val="27272A"/>
          </a:solidFill>
          <a:ln/>
          <a:effectLst>
            <a:outerShdw blurRad="101600" dist="38100" dir="5400000" algn="bl" rotWithShape="0">
              <a:srgbClr val="000000">
                <a:alpha val="35000"/>
              </a:srgbClr>
            </a:outerShdw>
          </a:effectLst>
        </p:spPr>
      </p:sp>
      <p:sp>
        <p:nvSpPr>
          <p:cNvPr id="45" name="Shape 43"/>
          <p:cNvSpPr/>
          <p:nvPr/>
        </p:nvSpPr>
        <p:spPr>
          <a:xfrm>
            <a:off x="8430768" y="4718304"/>
            <a:ext cx="420624" cy="420624"/>
          </a:xfrm>
          <a:prstGeom prst="ellipse">
            <a:avLst/>
          </a:prstGeom>
          <a:solidFill>
            <a:srgbClr val="0F766E"/>
          </a:solidFill>
          <a:ln/>
        </p:spPr>
      </p:sp>
      <p:sp>
        <p:nvSpPr>
          <p:cNvPr id="46" name="Text 44"/>
          <p:cNvSpPr/>
          <p:nvPr/>
        </p:nvSpPr>
        <p:spPr>
          <a:xfrm>
            <a:off x="8430768" y="471830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8</a:t>
            </a:r>
            <a:endParaRPr lang="en-US" sz="1300" dirty="0"/>
          </a:p>
        </p:txBody>
      </p:sp>
      <p:sp>
        <p:nvSpPr>
          <p:cNvPr id="47" name="Text 45"/>
          <p:cNvSpPr/>
          <p:nvPr/>
        </p:nvSpPr>
        <p:spPr>
          <a:xfrm>
            <a:off x="8979408" y="4645152"/>
            <a:ext cx="2697480" cy="548640"/>
          </a:xfrm>
          <a:prstGeom prst="rect">
            <a:avLst/>
          </a:prstGeom>
          <a:noFill/>
          <a:ln/>
        </p:spPr>
        <p:txBody>
          <a:bodyPr wrap="square" lIns="0" tIns="0" rIns="0" bIns="0" rtlCol="0" anchor="ctr"/>
          <a:lstStyle/>
          <a:p>
            <a:pPr marL="0" indent="0">
              <a:buNone/>
            </a:pPr>
            <a:r>
              <a:rPr lang="en-US" sz="1200" b="1" dirty="0">
                <a:solidFill>
                  <a:srgbClr val="F4F4F5"/>
                </a:solidFill>
                <a:latin typeface="游ゴシック" pitchFamily="34" charset="0"/>
                <a:ea typeface="游ゴシック" pitchFamily="34" charset="-122"/>
                <a:cs typeface="游ゴシック" pitchFamily="34" charset="-120"/>
              </a:rPr>
              <a:t>設定</a:t>
            </a:r>
            <a:endParaRPr lang="en-US" sz="1200" dirty="0"/>
          </a:p>
        </p:txBody>
      </p:sp>
      <p:sp>
        <p:nvSpPr>
          <p:cNvPr id="48" name="Text 46"/>
          <p:cNvSpPr/>
          <p:nvPr/>
        </p:nvSpPr>
        <p:spPr>
          <a:xfrm>
            <a:off x="8430768" y="5294376"/>
            <a:ext cx="3246120" cy="365760"/>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/admin/settings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1</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ダッシュボード</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a:t>
            </a:r>
            <a:endParaRPr lang="en-US" sz="950" dirty="0"/>
          </a:p>
        </p:txBody>
      </p:sp>
      <p:sp>
        <p:nvSpPr>
          <p:cNvPr id="6" name="Shape 4"/>
          <p:cNvSpPr/>
          <p:nvPr/>
        </p:nvSpPr>
        <p:spPr>
          <a:xfrm>
            <a:off x="411480" y="896112"/>
            <a:ext cx="1463040" cy="274320"/>
          </a:xfrm>
          <a:prstGeom prst="roundRect">
            <a:avLst>
              <a:gd name="adj" fmla="val 50000"/>
            </a:avLst>
          </a:prstGeom>
          <a:solidFill>
            <a:srgbClr val="F59E0B"/>
          </a:solidFill>
          <a:ln/>
        </p:spPr>
      </p:sp>
      <p:sp>
        <p:nvSpPr>
          <p:cNvPr id="7" name="Text 5"/>
          <p:cNvSpPr/>
          <p:nvPr/>
        </p:nvSpPr>
        <p:spPr>
          <a:xfrm>
            <a:off x="411480" y="896112"/>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8" name="Text 6"/>
          <p:cNvSpPr/>
          <p:nvPr/>
        </p:nvSpPr>
        <p:spPr>
          <a:xfrm>
            <a:off x="411480" y="1243584"/>
            <a:ext cx="4709160" cy="3900367"/>
          </a:xfrm>
          <a:prstGeom prst="rect">
            <a:avLst/>
          </a:prstGeom>
          <a:noFill/>
          <a:ln/>
        </p:spPr>
        <p:txBody>
          <a:bodyPr wrap="square" lIns="0" tIns="0" rIns="0" bIns="0" rtlCol="0" anchor="t"/>
          <a:lstStyle/>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1.  会員数・申請数・売上・AIおすすめオプション契約者数など、サービス全体の状況を確認するだけの画面です。</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2.  特別な操作はありません。数値の異常や急な変化に気づいたら、該当する管理画面(会員管理・申請管理等)で詳細を確認してください。</a:t>
            </a:r>
            <a:endParaRPr lang="en-US" sz="1100" dirty="0"/>
          </a:p>
        </p:txBody>
      </p:sp>
      <p:sp>
        <p:nvSpPr>
          <p:cNvPr id="9" name="Shape 7"/>
          <p:cNvSpPr/>
          <p:nvPr/>
        </p:nvSpPr>
        <p:spPr>
          <a:xfrm>
            <a:off x="411480" y="3280943"/>
            <a:ext cx="4709160" cy="1220273"/>
          </a:xfrm>
          <a:prstGeom prst="roundRect">
            <a:avLst>
              <a:gd name="adj" fmla="val 4496"/>
            </a:avLst>
          </a:prstGeom>
          <a:solidFill>
            <a:srgbClr val="2A1B0F"/>
          </a:solidFill>
          <a:ln w="12700">
            <a:solidFill>
              <a:srgbClr val="F59E0B"/>
            </a:solidFill>
            <a:prstDash val="solid"/>
          </a:ln>
        </p:spPr>
      </p:sp>
      <p:sp>
        <p:nvSpPr>
          <p:cNvPr id="10" name="Text 8"/>
          <p:cNvSpPr/>
          <p:nvPr/>
        </p:nvSpPr>
        <p:spPr>
          <a:xfrm>
            <a:off x="548640" y="3372383"/>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1" name="Text 9"/>
          <p:cNvSpPr/>
          <p:nvPr/>
        </p:nvSpPr>
        <p:spPr>
          <a:xfrm>
            <a:off x="548640" y="3664991"/>
            <a:ext cx="4434840" cy="744785"/>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「AIおすすめオプション キャンペーン契約者数」が200名に近づいてきたら要注意。200名到達でキャンペーンが自動終了(新規申込者は無料特典の対象外)になるため、事前に把握しておく。</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「今月の売上(純額)」がマイナスに近い、または大きく落ち込んでいる場合は、返金(日程管理画面)が多発していないか確認する。</a:t>
            </a:r>
            <a:endParaRPr lang="en-US" sz="830" dirty="0"/>
          </a:p>
        </p:txBody>
      </p:sp>
      <p:sp>
        <p:nvSpPr>
          <p:cNvPr id="12" name="Shape 10"/>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3" name="Image 0" descr="/sessions/busy-jolly-bardeen/mnt/Platonic_life_partnership/docs/admin-screenshots/01_dashboard.png"/>
          <p:cNvPicPr>
            <a:picLocks noChangeAspect="1"/>
          </p:cNvPicPr>
          <p:nvPr/>
        </p:nvPicPr>
        <p:blipFill>
          <a:blip r:embed="rId3"/>
          <a:srcRect/>
          <a:stretch/>
        </p:blipFill>
        <p:spPr>
          <a:xfrm>
            <a:off x="5486400" y="1501296"/>
            <a:ext cx="6217920" cy="4367472"/>
          </a:xfrm>
          <a:prstGeom prst="rect">
            <a:avLst/>
          </a:prstGeom>
        </p:spPr>
      </p:pic>
      <p:sp>
        <p:nvSpPr>
          <p:cNvPr id="14" name="Text 11"/>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1 /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2</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会員管理・プロフィール管理</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/admin/members</a:t>
            </a:r>
            <a:endParaRPr lang="en-US" sz="950" dirty="0"/>
          </a:p>
        </p:txBody>
      </p:sp>
      <p:sp>
        <p:nvSpPr>
          <p:cNvPr id="6" name="Shape 4"/>
          <p:cNvSpPr/>
          <p:nvPr/>
        </p:nvSpPr>
        <p:spPr>
          <a:xfrm>
            <a:off x="411480" y="896112"/>
            <a:ext cx="2103120" cy="274320"/>
          </a:xfrm>
          <a:prstGeom prst="roundRect">
            <a:avLst>
              <a:gd name="adj" fmla="val 50000"/>
            </a:avLst>
          </a:prstGeom>
          <a:solidFill>
            <a:srgbClr val="0F766E"/>
          </a:solidFill>
          <a:ln/>
        </p:spPr>
      </p:sp>
      <p:sp>
        <p:nvSpPr>
          <p:cNvPr id="7" name="Text 5"/>
          <p:cNvSpPr/>
          <p:nvPr/>
        </p:nvSpPr>
        <p:spPr>
          <a:xfrm>
            <a:off x="411480" y="896112"/>
            <a:ext cx="21031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状態の意味</a:t>
            </a:r>
            <a:endParaRPr lang="en-US" sz="1050" dirty="0"/>
          </a:p>
        </p:txBody>
      </p:sp>
      <p:sp>
        <p:nvSpPr>
          <p:cNvPr id="8" name="Text 6"/>
          <p:cNvSpPr/>
          <p:nvPr/>
        </p:nvSpPr>
        <p:spPr>
          <a:xfrm>
            <a:off x="411480" y="1243584"/>
            <a:ext cx="4709160" cy="364587"/>
          </a:xfrm>
          <a:prstGeom prst="rect">
            <a:avLst/>
          </a:prstGeom>
          <a:noFill/>
          <a:ln/>
        </p:spPr>
        <p:txBody>
          <a:bodyPr wrap="square" lIns="0" tIns="0" rIns="0" bIns="0" rtlCol="0" anchor="t"/>
          <a:lstStyle/>
          <a:p>
            <a:pPr marL="0" indent="0">
              <a:lnSpc>
                <a:spcPct val="105000"/>
              </a:lnSpc>
              <a:buNone/>
            </a:pPr>
            <a:r>
              <a:rPr lang="en-US" sz="980" b="1" dirty="0">
                <a:solidFill>
                  <a:srgbClr val="14B8A6"/>
                </a:solidFill>
              </a:rPr>
              <a:t>審査中　</a:t>
            </a:r>
            <a:r>
              <a:rPr lang="en-US" sz="930" dirty="0">
                <a:solidFill>
                  <a:srgbClr val="F4F4F5"/>
                </a:solidFill>
              </a:rPr>
              <a:t>本人確認書類の審査がまだ済んでいない状態(初期状態)。サービスの本格利用に制限がかかっている段階</a:t>
            </a:r>
            <a:endParaRPr lang="en-US" sz="980" dirty="0"/>
          </a:p>
        </p:txBody>
      </p:sp>
      <p:sp>
        <p:nvSpPr>
          <p:cNvPr id="9" name="Text 7"/>
          <p:cNvSpPr/>
          <p:nvPr/>
        </p:nvSpPr>
        <p:spPr>
          <a:xfrm>
            <a:off x="411480" y="1653891"/>
            <a:ext cx="4709160" cy="364587"/>
          </a:xfrm>
          <a:prstGeom prst="rect">
            <a:avLst/>
          </a:prstGeom>
          <a:noFill/>
          <a:ln/>
        </p:spPr>
        <p:txBody>
          <a:bodyPr wrap="square" lIns="0" tIns="0" rIns="0" bIns="0" rtlCol="0" anchor="t"/>
          <a:lstStyle/>
          <a:p>
            <a:pPr marL="0" indent="0">
              <a:lnSpc>
                <a:spcPct val="105000"/>
              </a:lnSpc>
              <a:buNone/>
            </a:pPr>
            <a:r>
              <a:rPr lang="en-US" sz="980" b="1" dirty="0">
                <a:solidFill>
                  <a:srgbClr val="14B8A6"/>
                </a:solidFill>
              </a:rPr>
              <a:t>承認済み　</a:t>
            </a:r>
            <a:r>
              <a:rPr lang="en-US" sz="930" dirty="0">
                <a:solidFill>
                  <a:srgbClr val="F4F4F5"/>
                </a:solidFill>
              </a:rPr>
              <a:t>AIによる自動審査(年齢確認等)を通過した状態。利用は可能だが、最終の目視確認がまだ済んでいない</a:t>
            </a:r>
            <a:endParaRPr lang="en-US" sz="980" dirty="0"/>
          </a:p>
        </p:txBody>
      </p:sp>
      <p:sp>
        <p:nvSpPr>
          <p:cNvPr id="10" name="Text 8"/>
          <p:cNvSpPr/>
          <p:nvPr/>
        </p:nvSpPr>
        <p:spPr>
          <a:xfrm>
            <a:off x="411480" y="2064197"/>
            <a:ext cx="4709160" cy="364587"/>
          </a:xfrm>
          <a:prstGeom prst="rect">
            <a:avLst/>
          </a:prstGeom>
          <a:noFill/>
          <a:ln/>
        </p:spPr>
        <p:txBody>
          <a:bodyPr wrap="square" lIns="0" tIns="0" rIns="0" bIns="0" rtlCol="0" anchor="t"/>
          <a:lstStyle/>
          <a:p>
            <a:pPr marL="0" indent="0">
              <a:lnSpc>
                <a:spcPct val="105000"/>
              </a:lnSpc>
              <a:buNone/>
            </a:pPr>
            <a:r>
              <a:rPr lang="en-US" sz="980" b="1" dirty="0">
                <a:solidFill>
                  <a:srgbClr val="14B8A6"/>
                </a:solidFill>
              </a:rPr>
              <a:t>手動チェック済み　</a:t>
            </a:r>
            <a:r>
              <a:rPr lang="en-US" sz="930" dirty="0">
                <a:solidFill>
                  <a:srgbClr val="F4F4F5"/>
                </a:solidFill>
              </a:rPr>
              <a:t>管理者が書類を目視確認し、問題なしと判断した状態</a:t>
            </a:r>
            <a:endParaRPr lang="en-US" sz="980" dirty="0"/>
          </a:p>
        </p:txBody>
      </p:sp>
      <p:sp>
        <p:nvSpPr>
          <p:cNvPr id="11" name="Text 9"/>
          <p:cNvSpPr/>
          <p:nvPr/>
        </p:nvSpPr>
        <p:spPr>
          <a:xfrm>
            <a:off x="411480" y="2474504"/>
            <a:ext cx="4709160" cy="205153"/>
          </a:xfrm>
          <a:prstGeom prst="rect">
            <a:avLst/>
          </a:prstGeom>
          <a:noFill/>
          <a:ln/>
        </p:spPr>
        <p:txBody>
          <a:bodyPr wrap="square" lIns="0" tIns="0" rIns="0" bIns="0" rtlCol="0" anchor="t"/>
          <a:lstStyle/>
          <a:p>
            <a:pPr marL="0" indent="0">
              <a:lnSpc>
                <a:spcPct val="105000"/>
              </a:lnSpc>
              <a:buNone/>
            </a:pPr>
            <a:r>
              <a:rPr lang="en-US" sz="980" b="1" dirty="0">
                <a:solidFill>
                  <a:srgbClr val="14B8A6"/>
                </a:solidFill>
              </a:rPr>
              <a:t>拒否　</a:t>
            </a:r>
            <a:r>
              <a:rPr lang="en-US" sz="930" dirty="0">
                <a:solidFill>
                  <a:srgbClr val="F4F4F5"/>
                </a:solidFill>
              </a:rPr>
              <a:t>書類の不備等により却下された状態</a:t>
            </a:r>
            <a:endParaRPr lang="en-US" sz="980" dirty="0"/>
          </a:p>
        </p:txBody>
      </p:sp>
      <p:sp>
        <p:nvSpPr>
          <p:cNvPr id="12" name="Text 10"/>
          <p:cNvSpPr/>
          <p:nvPr/>
        </p:nvSpPr>
        <p:spPr>
          <a:xfrm>
            <a:off x="411480" y="2725377"/>
            <a:ext cx="4709160" cy="205153"/>
          </a:xfrm>
          <a:prstGeom prst="rect">
            <a:avLst/>
          </a:prstGeom>
          <a:noFill/>
          <a:ln/>
        </p:spPr>
        <p:txBody>
          <a:bodyPr wrap="square" lIns="0" tIns="0" rIns="0" bIns="0" rtlCol="0" anchor="t"/>
          <a:lstStyle/>
          <a:p>
            <a:pPr marL="0" indent="0">
              <a:lnSpc>
                <a:spcPct val="105000"/>
              </a:lnSpc>
              <a:buNone/>
            </a:pPr>
            <a:r>
              <a:rPr lang="en-US" sz="980" b="1" dirty="0">
                <a:solidFill>
                  <a:srgbClr val="14B8A6"/>
                </a:solidFill>
              </a:rPr>
              <a:t>退会済み　</a:t>
            </a:r>
            <a:r>
              <a:rPr lang="en-US" sz="930" dirty="0">
                <a:solidFill>
                  <a:srgbClr val="F4F4F5"/>
                </a:solidFill>
              </a:rPr>
              <a:t>本人が退会手続きを行った状態</a:t>
            </a:r>
            <a:endParaRPr lang="en-US" sz="980" dirty="0"/>
          </a:p>
        </p:txBody>
      </p:sp>
      <p:sp>
        <p:nvSpPr>
          <p:cNvPr id="13" name="Shape 11"/>
          <p:cNvSpPr/>
          <p:nvPr/>
        </p:nvSpPr>
        <p:spPr>
          <a:xfrm>
            <a:off x="411480" y="3085978"/>
            <a:ext cx="1463040" cy="274320"/>
          </a:xfrm>
          <a:prstGeom prst="roundRect">
            <a:avLst>
              <a:gd name="adj" fmla="val 50000"/>
            </a:avLst>
          </a:prstGeom>
          <a:solidFill>
            <a:srgbClr val="F59E0B"/>
          </a:solidFill>
          <a:ln/>
        </p:spPr>
      </p:sp>
      <p:sp>
        <p:nvSpPr>
          <p:cNvPr id="14" name="Text 12"/>
          <p:cNvSpPr/>
          <p:nvPr/>
        </p:nvSpPr>
        <p:spPr>
          <a:xfrm>
            <a:off x="411480" y="3085978"/>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15" name="Text 13"/>
          <p:cNvSpPr/>
          <p:nvPr/>
        </p:nvSpPr>
        <p:spPr>
          <a:xfrm>
            <a:off x="411480" y="3433450"/>
            <a:ext cx="4709160" cy="1221508"/>
          </a:xfrm>
          <a:prstGeom prst="rect">
            <a:avLst/>
          </a:prstGeom>
          <a:noFill/>
          <a:ln/>
        </p:spPr>
        <p:txBody>
          <a:bodyPr wrap="square" lIns="0" tIns="0" rIns="0" bIns="0" rtlCol="0" anchor="t"/>
          <a:lstStyle/>
          <a:p>
            <a:pPr marL="0" indent="0">
              <a:lnSpc>
                <a:spcPct val="110000"/>
              </a:lnSpc>
              <a:spcAft>
                <a:spcPts val="700"/>
              </a:spcAft>
              <a:buNone/>
            </a:pPr>
            <a:r>
              <a:rPr lang="en-US" sz="1020" dirty="0">
                <a:solidFill>
                  <a:srgbClr val="F4F4F5"/>
                </a:solidFill>
                <a:latin typeface="游ゴシック" pitchFamily="34" charset="0"/>
                <a:ea typeface="游ゴシック" pitchFamily="34" charset="-122"/>
                <a:cs typeface="游ゴシック" pitchFamily="34" charset="-120"/>
              </a:rPr>
              <a:t>1.  ニックネームで検索、または性別・ステータスで絞り込んで対象の会員を探す。</a:t>
            </a:r>
            <a:endParaRPr lang="en-US" sz="1020" dirty="0"/>
          </a:p>
          <a:p>
            <a:pPr marL="0" indent="0">
              <a:lnSpc>
                <a:spcPct val="110000"/>
              </a:lnSpc>
              <a:spcAft>
                <a:spcPts val="700"/>
              </a:spcAft>
              <a:buNone/>
            </a:pPr>
            <a:r>
              <a:rPr lang="en-US" sz="1020" dirty="0">
                <a:solidFill>
                  <a:srgbClr val="F4F4F5"/>
                </a:solidFill>
                <a:latin typeface="游ゴシック" pitchFamily="34" charset="0"/>
                <a:ea typeface="游ゴシック" pitchFamily="34" charset="-122"/>
                <a:cs typeface="游ゴシック" pitchFamily="34" charset="-120"/>
              </a:rPr>
              <a:t>2.  一覧の「承認」「停止」ボタンで簡易な操作ができる。書類の中身を見て判断したい場合は「詳細」へ進む。</a:t>
            </a:r>
            <a:endParaRPr lang="en-US" sz="1020" dirty="0"/>
          </a:p>
          <a:p>
            <a:pPr marL="0" indent="0">
              <a:lnSpc>
                <a:spcPct val="110000"/>
              </a:lnSpc>
              <a:spcAft>
                <a:spcPts val="700"/>
              </a:spcAft>
              <a:buNone/>
            </a:pPr>
            <a:r>
              <a:rPr lang="en-US" sz="1020" dirty="0">
                <a:solidFill>
                  <a:srgbClr val="F4F4F5"/>
                </a:solidFill>
                <a:latin typeface="游ゴシック" pitchFamily="34" charset="0"/>
                <a:ea typeface="游ゴシック" pitchFamily="34" charset="-122"/>
                <a:cs typeface="游ゴシック" pitchFamily="34" charset="-120"/>
              </a:rPr>
              <a:t>3.  詳細画面の「ステータス管理」から、承認済みにする／手動チェック済みにする／拒否にする／退会済みにする／停止する、を選べる。</a:t>
            </a:r>
            <a:endParaRPr lang="en-US" sz="1020" dirty="0"/>
          </a:p>
        </p:txBody>
      </p:sp>
      <p:sp>
        <p:nvSpPr>
          <p:cNvPr id="16" name="Shape 14"/>
          <p:cNvSpPr/>
          <p:nvPr/>
        </p:nvSpPr>
        <p:spPr>
          <a:xfrm>
            <a:off x="411480" y="4764686"/>
            <a:ext cx="4709160" cy="1709266"/>
          </a:xfrm>
          <a:prstGeom prst="roundRect">
            <a:avLst>
              <a:gd name="adj" fmla="val 3210"/>
            </a:avLst>
          </a:prstGeom>
          <a:solidFill>
            <a:srgbClr val="2A1B0F"/>
          </a:solidFill>
          <a:ln w="12700">
            <a:solidFill>
              <a:srgbClr val="F59E0B"/>
            </a:solidFill>
            <a:prstDash val="solid"/>
          </a:ln>
        </p:spPr>
      </p:sp>
      <p:sp>
        <p:nvSpPr>
          <p:cNvPr id="17" name="Text 15"/>
          <p:cNvSpPr/>
          <p:nvPr/>
        </p:nvSpPr>
        <p:spPr>
          <a:xfrm>
            <a:off x="548640" y="4856126"/>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8" name="Text 16"/>
          <p:cNvSpPr/>
          <p:nvPr/>
        </p:nvSpPr>
        <p:spPr>
          <a:xfrm>
            <a:off x="548640" y="5148734"/>
            <a:ext cx="4434840" cy="1233778"/>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「審査中」の会員が溜まっていないか定期的に確認する。放置すると本人が使い始められない状態が続く(→本人確認審査画面で早めに処理)。</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「拒否」にした場合、拒否の理由は本人に自動通知されない仕様。必要であれば別途メール等で個別に連絡すること。</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重要】「停止する」ボタンは、管理画面上に「停止中」の表示が付くだけで、現状のコードでは実際にログインやサービス利用を止める仕組みとは連動していない(確認済み)。緊急に利用を止めたい重大なトラブル対応では、この操作だけでは不十分な可能性がある点に注意。</a:t>
            </a:r>
            <a:endParaRPr lang="en-US" sz="830" dirty="0"/>
          </a:p>
        </p:txBody>
      </p:sp>
      <p:sp>
        <p:nvSpPr>
          <p:cNvPr id="19" name="Shape 17"/>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20" name="Image 0" descr="/sessions/busy-jolly-bardeen/mnt/Platonic_life_partnership/docs/admin-screenshots/02_members.png"/>
          <p:cNvPicPr>
            <a:picLocks noChangeAspect="1"/>
          </p:cNvPicPr>
          <p:nvPr/>
        </p:nvPicPr>
        <p:blipFill>
          <a:blip r:embed="rId3"/>
          <a:srcRect/>
          <a:stretch/>
        </p:blipFill>
        <p:spPr>
          <a:xfrm>
            <a:off x="5486400" y="1501296"/>
            <a:ext cx="6217920" cy="4367472"/>
          </a:xfrm>
          <a:prstGeom prst="rect">
            <a:avLst/>
          </a:prstGeom>
        </p:spPr>
      </p:pic>
      <p:sp>
        <p:nvSpPr>
          <p:cNvPr id="21" name="Text 18"/>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2 / 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3</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本人確認審査(一覧)</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/admin/verify</a:t>
            </a:r>
            <a:endParaRPr lang="en-US" sz="950" dirty="0"/>
          </a:p>
        </p:txBody>
      </p:sp>
      <p:sp>
        <p:nvSpPr>
          <p:cNvPr id="6" name="Shape 4"/>
          <p:cNvSpPr/>
          <p:nvPr/>
        </p:nvSpPr>
        <p:spPr>
          <a:xfrm>
            <a:off x="411480" y="896112"/>
            <a:ext cx="2103120" cy="274320"/>
          </a:xfrm>
          <a:prstGeom prst="roundRect">
            <a:avLst>
              <a:gd name="adj" fmla="val 50000"/>
            </a:avLst>
          </a:prstGeom>
          <a:solidFill>
            <a:srgbClr val="0F766E"/>
          </a:solidFill>
          <a:ln/>
        </p:spPr>
      </p:sp>
      <p:sp>
        <p:nvSpPr>
          <p:cNvPr id="7" name="Text 5"/>
          <p:cNvSpPr/>
          <p:nvPr/>
        </p:nvSpPr>
        <p:spPr>
          <a:xfrm>
            <a:off x="411480" y="896112"/>
            <a:ext cx="21031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状態の意味</a:t>
            </a:r>
            <a:endParaRPr lang="en-US" sz="1050" dirty="0"/>
          </a:p>
        </p:txBody>
      </p:sp>
      <p:sp>
        <p:nvSpPr>
          <p:cNvPr id="8" name="Text 6"/>
          <p:cNvSpPr/>
          <p:nvPr/>
        </p:nvSpPr>
        <p:spPr>
          <a:xfrm>
            <a:off x="411480" y="1243584"/>
            <a:ext cx="4709160" cy="494736"/>
          </a:xfrm>
          <a:prstGeom prst="rect">
            <a:avLst/>
          </a:prstGeom>
          <a:noFill/>
          <a:ln/>
        </p:spPr>
        <p:txBody>
          <a:bodyPr wrap="square" lIns="0" tIns="0" rIns="0" bIns="0" rtlCol="0" anchor="t"/>
          <a:lstStyle/>
          <a:p>
            <a:pPr marL="0" indent="0">
              <a:lnSpc>
                <a:spcPct val="105000"/>
              </a:lnSpc>
              <a:buNone/>
            </a:pPr>
            <a:r>
              <a:rPr lang="en-US" sz="920" b="1" dirty="0">
                <a:solidFill>
                  <a:srgbClr val="14B8A6"/>
                </a:solidFill>
              </a:rPr>
              <a:t>審査中　</a:t>
            </a:r>
            <a:r>
              <a:rPr lang="en-US" sz="870" dirty="0">
                <a:solidFill>
                  <a:srgbClr val="F4F4F5"/>
                </a:solidFill>
              </a:rPr>
              <a:t>ログインはできるが、AI(年齢チェックAPI)による自動確認ができず、まだ本人確認が完了していない状態。早めのチェックが必要</a:t>
            </a:r>
            <a:endParaRPr lang="en-US" sz="920" dirty="0"/>
          </a:p>
        </p:txBody>
      </p:sp>
      <p:sp>
        <p:nvSpPr>
          <p:cNvPr id="9" name="Text 7"/>
          <p:cNvSpPr/>
          <p:nvPr/>
        </p:nvSpPr>
        <p:spPr>
          <a:xfrm>
            <a:off x="411480" y="1784040"/>
            <a:ext cx="4709160" cy="494736"/>
          </a:xfrm>
          <a:prstGeom prst="rect">
            <a:avLst/>
          </a:prstGeom>
          <a:noFill/>
          <a:ln/>
        </p:spPr>
        <p:txBody>
          <a:bodyPr wrap="square" lIns="0" tIns="0" rIns="0" bIns="0" rtlCol="0" anchor="t"/>
          <a:lstStyle/>
          <a:p>
            <a:pPr marL="0" indent="0">
              <a:lnSpc>
                <a:spcPct val="105000"/>
              </a:lnSpc>
              <a:buNone/>
            </a:pPr>
            <a:r>
              <a:rPr lang="en-US" sz="920" b="1" dirty="0">
                <a:solidFill>
                  <a:srgbClr val="14B8A6"/>
                </a:solidFill>
              </a:rPr>
              <a:t>承認済み(自動)　</a:t>
            </a:r>
            <a:r>
              <a:rPr lang="en-US" sz="870" dirty="0">
                <a:solidFill>
                  <a:srgbClr val="F4F4F5"/>
                </a:solidFill>
              </a:rPr>
              <a:t>AIによる自動確認は完了し、ログイン・利用ができる状態。ただし最終確認としてもう一度、目視でのチェックが必要</a:t>
            </a:r>
            <a:endParaRPr lang="en-US" sz="920" dirty="0"/>
          </a:p>
        </p:txBody>
      </p:sp>
      <p:sp>
        <p:nvSpPr>
          <p:cNvPr id="10" name="Text 8"/>
          <p:cNvSpPr/>
          <p:nvPr/>
        </p:nvSpPr>
        <p:spPr>
          <a:xfrm>
            <a:off x="411480" y="2324496"/>
            <a:ext cx="4709160" cy="345064"/>
          </a:xfrm>
          <a:prstGeom prst="rect">
            <a:avLst/>
          </a:prstGeom>
          <a:noFill/>
          <a:ln/>
        </p:spPr>
        <p:txBody>
          <a:bodyPr wrap="square" lIns="0" tIns="0" rIns="0" bIns="0" rtlCol="0" anchor="t"/>
          <a:lstStyle/>
          <a:p>
            <a:pPr marL="0" indent="0">
              <a:lnSpc>
                <a:spcPct val="105000"/>
              </a:lnSpc>
              <a:buNone/>
            </a:pPr>
            <a:r>
              <a:rPr lang="en-US" sz="920" b="1" dirty="0">
                <a:solidFill>
                  <a:srgbClr val="14B8A6"/>
                </a:solidFill>
              </a:rPr>
              <a:t>手動チェック済み　</a:t>
            </a:r>
            <a:r>
              <a:rPr lang="en-US" sz="870" dirty="0">
                <a:solidFill>
                  <a:srgbClr val="F4F4F5"/>
                </a:solidFill>
              </a:rPr>
              <a:t>管理者が実際に書類を目視確認し、最終OKを出した状態</a:t>
            </a:r>
            <a:endParaRPr lang="en-US" sz="920" dirty="0"/>
          </a:p>
        </p:txBody>
      </p:sp>
      <p:sp>
        <p:nvSpPr>
          <p:cNvPr id="11" name="Text 9"/>
          <p:cNvSpPr/>
          <p:nvPr/>
        </p:nvSpPr>
        <p:spPr>
          <a:xfrm>
            <a:off x="411480" y="2715280"/>
            <a:ext cx="4709160" cy="195392"/>
          </a:xfrm>
          <a:prstGeom prst="rect">
            <a:avLst/>
          </a:prstGeom>
          <a:noFill/>
          <a:ln/>
        </p:spPr>
        <p:txBody>
          <a:bodyPr wrap="square" lIns="0" tIns="0" rIns="0" bIns="0" rtlCol="0" anchor="t"/>
          <a:lstStyle/>
          <a:p>
            <a:pPr marL="0" indent="0">
              <a:lnSpc>
                <a:spcPct val="105000"/>
              </a:lnSpc>
              <a:buNone/>
            </a:pPr>
            <a:r>
              <a:rPr lang="en-US" sz="920" b="1" dirty="0">
                <a:solidFill>
                  <a:srgbClr val="14B8A6"/>
                </a:solidFill>
              </a:rPr>
              <a:t>拒否　</a:t>
            </a:r>
            <a:r>
              <a:rPr lang="en-US" sz="870" dirty="0">
                <a:solidFill>
                  <a:srgbClr val="F4F4F5"/>
                </a:solidFill>
              </a:rPr>
              <a:t>書類の不備・年齢基準未達などにより却下された状態</a:t>
            </a:r>
            <a:endParaRPr lang="en-US" sz="920" dirty="0"/>
          </a:p>
        </p:txBody>
      </p:sp>
      <p:sp>
        <p:nvSpPr>
          <p:cNvPr id="12" name="Shape 10"/>
          <p:cNvSpPr/>
          <p:nvPr/>
        </p:nvSpPr>
        <p:spPr>
          <a:xfrm>
            <a:off x="411480" y="3066120"/>
            <a:ext cx="1463040" cy="274320"/>
          </a:xfrm>
          <a:prstGeom prst="roundRect">
            <a:avLst>
              <a:gd name="adj" fmla="val 50000"/>
            </a:avLst>
          </a:prstGeom>
          <a:solidFill>
            <a:srgbClr val="F59E0B"/>
          </a:solidFill>
          <a:ln/>
        </p:spPr>
      </p:sp>
      <p:sp>
        <p:nvSpPr>
          <p:cNvPr id="13" name="Text 11"/>
          <p:cNvSpPr/>
          <p:nvPr/>
        </p:nvSpPr>
        <p:spPr>
          <a:xfrm>
            <a:off x="411480" y="3066120"/>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14" name="Text 12"/>
          <p:cNvSpPr/>
          <p:nvPr/>
        </p:nvSpPr>
        <p:spPr>
          <a:xfrm>
            <a:off x="411480" y="3413592"/>
            <a:ext cx="4709160" cy="1184470"/>
          </a:xfrm>
          <a:prstGeom prst="rect">
            <a:avLst/>
          </a:prstGeom>
          <a:noFill/>
          <a:ln/>
        </p:spPr>
        <p:txBody>
          <a:bodyPr wrap="square" lIns="0" tIns="0" rIns="0" bIns="0" rtlCol="0" anchor="t"/>
          <a:lstStyle/>
          <a:p>
            <a:pPr marL="0" indent="0">
              <a:lnSpc>
                <a:spcPct val="105000"/>
              </a:lnSpc>
              <a:spcAft>
                <a:spcPts val="600"/>
              </a:spcAft>
              <a:buNone/>
            </a:pPr>
            <a:r>
              <a:rPr lang="en-US" sz="960" dirty="0">
                <a:solidFill>
                  <a:srgbClr val="F4F4F5"/>
                </a:solidFill>
                <a:latin typeface="游ゴシック" pitchFamily="34" charset="0"/>
                <a:ea typeface="游ゴシック" pitchFamily="34" charset="-122"/>
                <a:cs typeface="游ゴシック" pitchFamily="34" charset="-120"/>
              </a:rPr>
              <a:t>1.  上部のタブで「審査中」「承認済み(自動)」等に絞り込む。</a:t>
            </a:r>
            <a:endParaRPr lang="en-US" sz="960" dirty="0"/>
          </a:p>
          <a:p>
            <a:pPr marL="0" indent="0">
              <a:lnSpc>
                <a:spcPct val="105000"/>
              </a:lnSpc>
              <a:spcAft>
                <a:spcPts val="600"/>
              </a:spcAft>
              <a:buNone/>
            </a:pPr>
            <a:r>
              <a:rPr lang="en-US" sz="960" dirty="0">
                <a:solidFill>
                  <a:srgbClr val="F4F4F5"/>
                </a:solidFill>
                <a:latin typeface="游ゴシック" pitchFamily="34" charset="0"/>
                <a:ea typeface="游ゴシック" pitchFamily="34" charset="-122"/>
                <a:cs typeface="游ゴシック" pitchFamily="34" charset="-120"/>
              </a:rPr>
              <a:t>2.  「審査中」のカードは【審査する】ボタンで詳細画面へ進み、承認・否認・不備メール送信を行う。</a:t>
            </a:r>
            <a:endParaRPr lang="en-US" sz="960" dirty="0"/>
          </a:p>
          <a:p>
            <a:pPr marL="0" indent="0">
              <a:lnSpc>
                <a:spcPct val="105000"/>
              </a:lnSpc>
              <a:spcAft>
                <a:spcPts val="600"/>
              </a:spcAft>
              <a:buNone/>
            </a:pPr>
            <a:r>
              <a:rPr lang="en-US" sz="960" dirty="0">
                <a:solidFill>
                  <a:srgbClr val="F4F4F5"/>
                </a:solidFill>
                <a:latin typeface="游ゴシック" pitchFamily="34" charset="0"/>
                <a:ea typeface="游ゴシック" pitchFamily="34" charset="-122"/>
                <a:cs typeface="游ゴシック" pitchFamily="34" charset="-120"/>
              </a:rPr>
              <a:t>3.  「承認済み(自動)」のカードは、書類を目視確認できたら【手動チェック済みにする】ボタンをその場で押すだけで完了する。</a:t>
            </a:r>
            <a:endParaRPr lang="en-US" sz="960" dirty="0"/>
          </a:p>
          <a:p>
            <a:pPr marL="0" indent="0">
              <a:lnSpc>
                <a:spcPct val="105000"/>
              </a:lnSpc>
              <a:spcAft>
                <a:spcPts val="600"/>
              </a:spcAft>
              <a:buNone/>
            </a:pPr>
            <a:r>
              <a:rPr lang="en-US" sz="960" dirty="0">
                <a:solidFill>
                  <a:srgbClr val="F4F4F5"/>
                </a:solidFill>
                <a:latin typeface="游ゴシック" pitchFamily="34" charset="0"/>
                <a:ea typeface="游ゴシック" pitchFamily="34" charset="-122"/>
                <a:cs typeface="游ゴシック" pitchFamily="34" charset="-120"/>
              </a:rPr>
              <a:t>4.  「再審査待ち」「不備通知済み(未再提出)」タブで、不備メール送信後の会員の対応状況を追跡できる。</a:t>
            </a:r>
            <a:endParaRPr lang="en-US" sz="960" dirty="0"/>
          </a:p>
        </p:txBody>
      </p:sp>
      <p:sp>
        <p:nvSpPr>
          <p:cNvPr id="15" name="Shape 13"/>
          <p:cNvSpPr/>
          <p:nvPr/>
        </p:nvSpPr>
        <p:spPr>
          <a:xfrm>
            <a:off x="411480" y="4707790"/>
            <a:ext cx="4709160" cy="1766162"/>
          </a:xfrm>
          <a:prstGeom prst="roundRect">
            <a:avLst>
              <a:gd name="adj" fmla="val 3106"/>
            </a:avLst>
          </a:prstGeom>
          <a:solidFill>
            <a:srgbClr val="2A1B0F"/>
          </a:solidFill>
          <a:ln w="12700">
            <a:solidFill>
              <a:srgbClr val="F59E0B"/>
            </a:solidFill>
            <a:prstDash val="solid"/>
          </a:ln>
        </p:spPr>
      </p:sp>
      <p:sp>
        <p:nvSpPr>
          <p:cNvPr id="16" name="Text 14"/>
          <p:cNvSpPr/>
          <p:nvPr/>
        </p:nvSpPr>
        <p:spPr>
          <a:xfrm>
            <a:off x="548640" y="4799230"/>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7" name="Text 15"/>
          <p:cNvSpPr/>
          <p:nvPr/>
        </p:nvSpPr>
        <p:spPr>
          <a:xfrm>
            <a:off x="548640" y="5091838"/>
            <a:ext cx="4434840" cy="1290674"/>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【最優先で確認】「審査中」タブの件数。ここに入っている会員はAIでの確認ができておらず、目視確認が済むまで本人確認が完了しない。件数が増えていたら他の作業より先に対応する。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「承認済み(自動)」もAI確認済みとはいえ、あくまで自動判定のみで最終人の目でのチェックが済んでいない状態。定期的にこのタブを見て【手動チェック済みにする】を進める。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不備メールを送る」を送ったあと、システムからの自動リマインドは送られない。「不備通知済み(未再提出)」タブを定期的に確認し、再提出がないまま長期間放置されている会員がいないか目視で追う必要があ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拒否にした場合も、本人への自動通知はない(会員管理と同様)。</a:t>
            </a:r>
            <a:endParaRPr lang="en-US" sz="830" dirty="0"/>
          </a:p>
        </p:txBody>
      </p:sp>
      <p:sp>
        <p:nvSpPr>
          <p:cNvPr id="18" name="Shape 16"/>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9" name="Image 0" descr="/sessions/busy-jolly-bardeen/mnt/Platonic_life_partnership/docs/admin-screenshots/04_verify.png"/>
          <p:cNvPicPr>
            <a:picLocks noChangeAspect="1"/>
          </p:cNvPicPr>
          <p:nvPr/>
        </p:nvPicPr>
        <p:blipFill>
          <a:blip r:embed="rId3"/>
          <a:srcRect/>
          <a:stretch/>
        </p:blipFill>
        <p:spPr>
          <a:xfrm>
            <a:off x="5486400" y="1501296"/>
            <a:ext cx="6217920" cy="4367472"/>
          </a:xfrm>
          <a:prstGeom prst="rect">
            <a:avLst/>
          </a:prstGeom>
        </p:spPr>
      </p:pic>
      <p:sp>
        <p:nvSpPr>
          <p:cNvPr id="20" name="Text 17"/>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3 / 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3b</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本人確認審査(詳細)</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/admin/verify/[id]</a:t>
            </a:r>
            <a:endParaRPr lang="en-US" sz="950" dirty="0"/>
          </a:p>
        </p:txBody>
      </p:sp>
      <p:sp>
        <p:nvSpPr>
          <p:cNvPr id="6" name="Shape 4"/>
          <p:cNvSpPr/>
          <p:nvPr/>
        </p:nvSpPr>
        <p:spPr>
          <a:xfrm>
            <a:off x="411480" y="896112"/>
            <a:ext cx="1463040" cy="274320"/>
          </a:xfrm>
          <a:prstGeom prst="roundRect">
            <a:avLst>
              <a:gd name="adj" fmla="val 50000"/>
            </a:avLst>
          </a:prstGeom>
          <a:solidFill>
            <a:srgbClr val="F59E0B"/>
          </a:solidFill>
          <a:ln/>
        </p:spPr>
      </p:sp>
      <p:sp>
        <p:nvSpPr>
          <p:cNvPr id="7" name="Text 5"/>
          <p:cNvSpPr/>
          <p:nvPr/>
        </p:nvSpPr>
        <p:spPr>
          <a:xfrm>
            <a:off x="411480" y="896112"/>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8" name="Text 6"/>
          <p:cNvSpPr/>
          <p:nvPr/>
        </p:nvSpPr>
        <p:spPr>
          <a:xfrm>
            <a:off x="411480" y="1243584"/>
            <a:ext cx="4709160" cy="3555407"/>
          </a:xfrm>
          <a:prstGeom prst="rect">
            <a:avLst/>
          </a:prstGeom>
          <a:noFill/>
          <a:ln/>
        </p:spPr>
        <p:txBody>
          <a:bodyPr wrap="square" lIns="0" tIns="0" rIns="0" bIns="0" rtlCol="0" anchor="t"/>
          <a:lstStyle/>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1.  「審査する」または「詳細を見る」から遷移。表面・裏面の書類画像はクリックで拡大表示できる。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2.  「審査中」の場合 →【✓ 承認する】を押すと「手動チェック済み」になる。年齢基準等を満たさない場合は【否認する】を押す(「拒否」になる)。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3.  書類が不鮮明・情報不足などの場合は【不備メールを送る】。理由を入力(任意)して送信すると、本人にメールが届く。</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4.  「承認済み(自動)」の場合 →【手動チェック済みにする】を押すと最終確認完了。誤って進めた場合は【自動承認済みに戻す】で元に戻せる。</a:t>
            </a:r>
            <a:endParaRPr lang="en-US" sz="1100" dirty="0"/>
          </a:p>
        </p:txBody>
      </p:sp>
      <p:sp>
        <p:nvSpPr>
          <p:cNvPr id="9" name="Shape 7"/>
          <p:cNvSpPr/>
          <p:nvPr/>
        </p:nvSpPr>
        <p:spPr>
          <a:xfrm>
            <a:off x="411480" y="3867317"/>
            <a:ext cx="4709160" cy="1565233"/>
          </a:xfrm>
          <a:prstGeom prst="roundRect">
            <a:avLst>
              <a:gd name="adj" fmla="val 3505"/>
            </a:avLst>
          </a:prstGeom>
          <a:solidFill>
            <a:srgbClr val="2A1B0F"/>
          </a:solidFill>
          <a:ln w="12700">
            <a:solidFill>
              <a:srgbClr val="F59E0B"/>
            </a:solidFill>
            <a:prstDash val="solid"/>
          </a:ln>
        </p:spPr>
      </p:sp>
      <p:sp>
        <p:nvSpPr>
          <p:cNvPr id="10" name="Text 8"/>
          <p:cNvSpPr/>
          <p:nvPr/>
        </p:nvSpPr>
        <p:spPr>
          <a:xfrm>
            <a:off x="548640" y="3958757"/>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1" name="Text 9"/>
          <p:cNvSpPr/>
          <p:nvPr/>
        </p:nvSpPr>
        <p:spPr>
          <a:xfrm>
            <a:off x="548640" y="4251365"/>
            <a:ext cx="4434840" cy="1089745"/>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書類画像は必ず拡大表示して、文字・顔写真がはっきり確認できるかチェックしてから承認する(縮小表示のままの判断は避ける)。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年齢が18歳未満の疑いがある場合は必ず【否認する】を選び、絶対に承認しないこと(法令遵守上、最重要のチェック項目)。</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不備メールを送る際は、理由欄になるべく具体的な内容を書く(空欄のままでも送信できてしまうが、本人が何を直せばよいか分からなくなる)。</a:t>
            </a:r>
            <a:endParaRPr lang="en-US" sz="830" dirty="0"/>
          </a:p>
        </p:txBody>
      </p:sp>
      <p:sp>
        <p:nvSpPr>
          <p:cNvPr id="12" name="Shape 10"/>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3" name="Image 0" descr="/sessions/busy-jolly-bardeen/mnt/Platonic_life_partnership/docs/admin-screenshots/04_verify.png"/>
          <p:cNvPicPr>
            <a:picLocks noChangeAspect="1"/>
          </p:cNvPicPr>
          <p:nvPr/>
        </p:nvPicPr>
        <p:blipFill>
          <a:blip r:embed="rId3"/>
          <a:srcRect/>
          <a:stretch/>
        </p:blipFill>
        <p:spPr>
          <a:xfrm>
            <a:off x="5486400" y="1501296"/>
            <a:ext cx="6217920" cy="4367472"/>
          </a:xfrm>
          <a:prstGeom prst="rect">
            <a:avLst/>
          </a:prstGeom>
        </p:spPr>
      </p:pic>
      <p:sp>
        <p:nvSpPr>
          <p:cNvPr id="14" name="Text 11"/>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3b / 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4</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申請管理</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/admin/matching</a:t>
            </a:r>
            <a:endParaRPr lang="en-US" sz="950" dirty="0"/>
          </a:p>
        </p:txBody>
      </p:sp>
      <p:sp>
        <p:nvSpPr>
          <p:cNvPr id="6" name="Shape 4"/>
          <p:cNvSpPr/>
          <p:nvPr/>
        </p:nvSpPr>
        <p:spPr>
          <a:xfrm>
            <a:off x="411480" y="896112"/>
            <a:ext cx="2103120" cy="274320"/>
          </a:xfrm>
          <a:prstGeom prst="roundRect">
            <a:avLst>
              <a:gd name="adj" fmla="val 50000"/>
            </a:avLst>
          </a:prstGeom>
          <a:solidFill>
            <a:srgbClr val="0F766E"/>
          </a:solidFill>
          <a:ln/>
        </p:spPr>
      </p:sp>
      <p:sp>
        <p:nvSpPr>
          <p:cNvPr id="7" name="Text 5"/>
          <p:cNvSpPr/>
          <p:nvPr/>
        </p:nvSpPr>
        <p:spPr>
          <a:xfrm>
            <a:off x="411480" y="896112"/>
            <a:ext cx="21031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状態の意味</a:t>
            </a:r>
            <a:endParaRPr lang="en-US" sz="1050" dirty="0"/>
          </a:p>
        </p:txBody>
      </p:sp>
      <p:sp>
        <p:nvSpPr>
          <p:cNvPr id="8" name="Text 6"/>
          <p:cNvSpPr/>
          <p:nvPr/>
        </p:nvSpPr>
        <p:spPr>
          <a:xfrm>
            <a:off x="411480" y="1243584"/>
            <a:ext cx="4709160" cy="216541"/>
          </a:xfrm>
          <a:prstGeom prst="rect">
            <a:avLst/>
          </a:prstGeom>
          <a:noFill/>
          <a:ln/>
        </p:spPr>
        <p:txBody>
          <a:bodyPr wrap="square" lIns="0" tIns="0" rIns="0" bIns="0" rtlCol="0" anchor="t"/>
          <a:lstStyle/>
          <a:p>
            <a:pPr marL="0" indent="0">
              <a:lnSpc>
                <a:spcPct val="105000"/>
              </a:lnSpc>
              <a:buNone/>
            </a:pPr>
            <a:r>
              <a:rPr lang="en-US" sz="1050" b="1" dirty="0">
                <a:solidFill>
                  <a:srgbClr val="14B8A6"/>
                </a:solidFill>
              </a:rPr>
              <a:t>申請中　</a:t>
            </a:r>
            <a:r>
              <a:rPr lang="en-US" sz="1000" dirty="0">
                <a:solidFill>
                  <a:srgbClr val="F4F4F5"/>
                </a:solidFill>
              </a:rPr>
              <a:t>会員がお見合いを申請した直後の状態</a:t>
            </a:r>
            <a:endParaRPr lang="en-US" sz="1050" dirty="0"/>
          </a:p>
        </p:txBody>
      </p:sp>
      <p:sp>
        <p:nvSpPr>
          <p:cNvPr id="9" name="Text 7"/>
          <p:cNvSpPr/>
          <p:nvPr/>
        </p:nvSpPr>
        <p:spPr>
          <a:xfrm>
            <a:off x="411480" y="1505845"/>
            <a:ext cx="4709160" cy="216541"/>
          </a:xfrm>
          <a:prstGeom prst="rect">
            <a:avLst/>
          </a:prstGeom>
          <a:noFill/>
          <a:ln/>
        </p:spPr>
        <p:txBody>
          <a:bodyPr wrap="square" lIns="0" tIns="0" rIns="0" bIns="0" rtlCol="0" anchor="t"/>
          <a:lstStyle/>
          <a:p>
            <a:pPr marL="0" indent="0">
              <a:lnSpc>
                <a:spcPct val="105000"/>
              </a:lnSpc>
              <a:buNone/>
            </a:pPr>
            <a:r>
              <a:rPr lang="en-US" sz="1050" b="1" dirty="0">
                <a:solidFill>
                  <a:srgbClr val="14B8A6"/>
                </a:solidFill>
              </a:rPr>
              <a:t>日程調整中　</a:t>
            </a:r>
            <a:r>
              <a:rPr lang="en-US" sz="1000" dirty="0">
                <a:solidFill>
                  <a:srgbClr val="F4F4F5"/>
                </a:solidFill>
              </a:rPr>
              <a:t>お相手が承認し、日程調整に進んだ状態</a:t>
            </a:r>
            <a:endParaRPr lang="en-US" sz="1050" dirty="0"/>
          </a:p>
        </p:txBody>
      </p:sp>
      <p:sp>
        <p:nvSpPr>
          <p:cNvPr id="10" name="Text 8"/>
          <p:cNvSpPr/>
          <p:nvPr/>
        </p:nvSpPr>
        <p:spPr>
          <a:xfrm>
            <a:off x="411480" y="1768107"/>
            <a:ext cx="4709160" cy="387363"/>
          </a:xfrm>
          <a:prstGeom prst="rect">
            <a:avLst/>
          </a:prstGeom>
          <a:noFill/>
          <a:ln/>
        </p:spPr>
        <p:txBody>
          <a:bodyPr wrap="square" lIns="0" tIns="0" rIns="0" bIns="0" rtlCol="0" anchor="t"/>
          <a:lstStyle/>
          <a:p>
            <a:pPr marL="0" indent="0">
              <a:lnSpc>
                <a:spcPct val="105000"/>
              </a:lnSpc>
              <a:buNone/>
            </a:pPr>
            <a:r>
              <a:rPr lang="en-US" sz="1050" b="1" dirty="0">
                <a:solidFill>
                  <a:srgbClr val="14B8A6"/>
                </a:solidFill>
              </a:rPr>
              <a:t>Google Meet送信済　</a:t>
            </a:r>
            <a:r>
              <a:rPr lang="en-US" sz="1000" dirty="0">
                <a:solidFill>
                  <a:srgbClr val="F4F4F5"/>
                </a:solidFill>
              </a:rPr>
              <a:t>日程が確定し、Google Meetの案内が送信された状態</a:t>
            </a:r>
            <a:endParaRPr lang="en-US" sz="1050" dirty="0"/>
          </a:p>
        </p:txBody>
      </p:sp>
      <p:sp>
        <p:nvSpPr>
          <p:cNvPr id="11" name="Text 9"/>
          <p:cNvSpPr/>
          <p:nvPr/>
        </p:nvSpPr>
        <p:spPr>
          <a:xfrm>
            <a:off x="411480" y="2201189"/>
            <a:ext cx="4709160" cy="387363"/>
          </a:xfrm>
          <a:prstGeom prst="rect">
            <a:avLst/>
          </a:prstGeom>
          <a:noFill/>
          <a:ln/>
        </p:spPr>
        <p:txBody>
          <a:bodyPr wrap="square" lIns="0" tIns="0" rIns="0" bIns="0" rtlCol="0" anchor="t"/>
          <a:lstStyle/>
          <a:p>
            <a:pPr marL="0" indent="0">
              <a:lnSpc>
                <a:spcPct val="105000"/>
              </a:lnSpc>
              <a:buNone/>
            </a:pPr>
            <a:r>
              <a:rPr lang="en-US" sz="1050" b="1" dirty="0">
                <a:solidFill>
                  <a:srgbClr val="14B8A6"/>
                </a:solidFill>
              </a:rPr>
              <a:t>完了 / キャンセル / 拒否 / 終了済み　</a:t>
            </a:r>
            <a:r>
              <a:rPr lang="en-US" sz="1000" dirty="0">
                <a:solidFill>
                  <a:srgbClr val="F4F4F5"/>
                </a:solidFill>
              </a:rPr>
              <a:t>お見合い実施後、またはキャンセル・却下により終了した状態</a:t>
            </a:r>
            <a:endParaRPr lang="en-US" sz="1050" dirty="0"/>
          </a:p>
        </p:txBody>
      </p:sp>
      <p:sp>
        <p:nvSpPr>
          <p:cNvPr id="12" name="Shape 10"/>
          <p:cNvSpPr/>
          <p:nvPr/>
        </p:nvSpPr>
        <p:spPr>
          <a:xfrm>
            <a:off x="411480" y="2744000"/>
            <a:ext cx="1463040" cy="274320"/>
          </a:xfrm>
          <a:prstGeom prst="roundRect">
            <a:avLst>
              <a:gd name="adj" fmla="val 50000"/>
            </a:avLst>
          </a:prstGeom>
          <a:solidFill>
            <a:srgbClr val="F59E0B"/>
          </a:solidFill>
          <a:ln/>
        </p:spPr>
      </p:sp>
      <p:sp>
        <p:nvSpPr>
          <p:cNvPr id="13" name="Text 11"/>
          <p:cNvSpPr/>
          <p:nvPr/>
        </p:nvSpPr>
        <p:spPr>
          <a:xfrm>
            <a:off x="411480" y="2744000"/>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14" name="Text 12"/>
          <p:cNvSpPr/>
          <p:nvPr/>
        </p:nvSpPr>
        <p:spPr>
          <a:xfrm>
            <a:off x="411480" y="3091472"/>
            <a:ext cx="4709160" cy="1851551"/>
          </a:xfrm>
          <a:prstGeom prst="rect">
            <a:avLst/>
          </a:prstGeom>
          <a:noFill/>
          <a:ln/>
        </p:spPr>
        <p:txBody>
          <a:bodyPr wrap="square" lIns="0" tIns="0" rIns="0" bIns="0" rtlCol="0" anchor="t"/>
          <a:lstStyle/>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1.  通常、申請中→日程調整中→Google Meet送信済→完了、という流れは会員同士の操作でシステムが自動的に進める。管理者が毎回操作する必要はない。</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2.  「Google Meet送信済」の行にだけ【完了にする→】ボタンが表示される。お見合いが実施されたことを確認できた場合、手動で「完了」に進められる。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3.  「入室状況」「時間超過」「同意状況」の列で状況を確認できる。</a:t>
            </a:r>
            <a:endParaRPr lang="en-US" sz="1100" dirty="0"/>
          </a:p>
        </p:txBody>
      </p:sp>
      <p:sp>
        <p:nvSpPr>
          <p:cNvPr id="15" name="Shape 13"/>
          <p:cNvSpPr/>
          <p:nvPr/>
        </p:nvSpPr>
        <p:spPr>
          <a:xfrm>
            <a:off x="411480" y="5052751"/>
            <a:ext cx="4709160" cy="1421201"/>
          </a:xfrm>
          <a:prstGeom prst="roundRect">
            <a:avLst>
              <a:gd name="adj" fmla="val 3860"/>
            </a:avLst>
          </a:prstGeom>
          <a:solidFill>
            <a:srgbClr val="2A1B0F"/>
          </a:solidFill>
          <a:ln w="12700">
            <a:solidFill>
              <a:srgbClr val="F59E0B"/>
            </a:solidFill>
            <a:prstDash val="solid"/>
          </a:ln>
        </p:spPr>
      </p:sp>
      <p:sp>
        <p:nvSpPr>
          <p:cNvPr id="16" name="Text 14"/>
          <p:cNvSpPr/>
          <p:nvPr/>
        </p:nvSpPr>
        <p:spPr>
          <a:xfrm>
            <a:off x="548640" y="5144191"/>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7" name="Text 15"/>
          <p:cNvSpPr/>
          <p:nvPr/>
        </p:nvSpPr>
        <p:spPr>
          <a:xfrm>
            <a:off x="548640" y="5436799"/>
            <a:ext cx="4434840" cy="945713"/>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 超過」の赤い表示は、予定時刻から50分経過してもGoogle Meet送信済のまま進んでいない申請。ドタキャンや通信トラブルの可能性があるため優先して中身を確認する。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「同意状況」が片方だけ「同意済み」でもう片方が「未同意」のまま長く止まっている申請は、交際継続の意思確認がすれ違っている可能性がある。必要に応じて日程管理画面での返金対応も検討する。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「完了にする」は取り消せない想定の操作。実際にお見合いが行われたことを確認してから押すこと。</a:t>
            </a:r>
            <a:endParaRPr lang="en-US" sz="830" dirty="0"/>
          </a:p>
        </p:txBody>
      </p:sp>
      <p:sp>
        <p:nvSpPr>
          <p:cNvPr id="18" name="Shape 16"/>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9" name="Image 0" descr="/sessions/busy-jolly-bardeen/mnt/Platonic_life_partnership/docs/admin-screenshots/05_matching.png"/>
          <p:cNvPicPr>
            <a:picLocks noChangeAspect="1"/>
          </p:cNvPicPr>
          <p:nvPr/>
        </p:nvPicPr>
        <p:blipFill>
          <a:blip r:embed="rId3"/>
          <a:srcRect/>
          <a:stretch/>
        </p:blipFill>
        <p:spPr>
          <a:xfrm>
            <a:off x="5486400" y="1501296"/>
            <a:ext cx="6217920" cy="4367472"/>
          </a:xfrm>
          <a:prstGeom prst="rect">
            <a:avLst/>
          </a:prstGeom>
        </p:spPr>
      </p:pic>
      <p:sp>
        <p:nvSpPr>
          <p:cNvPr id="20" name="Text 17"/>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4 / 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5</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日程管理</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/admin/schedule</a:t>
            </a:r>
            <a:endParaRPr lang="en-US" sz="950" dirty="0"/>
          </a:p>
        </p:txBody>
      </p:sp>
      <p:sp>
        <p:nvSpPr>
          <p:cNvPr id="6" name="Shape 4"/>
          <p:cNvSpPr/>
          <p:nvPr/>
        </p:nvSpPr>
        <p:spPr>
          <a:xfrm>
            <a:off x="411480" y="896112"/>
            <a:ext cx="1463040" cy="274320"/>
          </a:xfrm>
          <a:prstGeom prst="roundRect">
            <a:avLst>
              <a:gd name="adj" fmla="val 50000"/>
            </a:avLst>
          </a:prstGeom>
          <a:solidFill>
            <a:srgbClr val="F59E0B"/>
          </a:solidFill>
          <a:ln/>
        </p:spPr>
      </p:sp>
      <p:sp>
        <p:nvSpPr>
          <p:cNvPr id="7" name="Text 5"/>
          <p:cNvSpPr/>
          <p:nvPr/>
        </p:nvSpPr>
        <p:spPr>
          <a:xfrm>
            <a:off x="411480" y="896112"/>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8" name="Text 6"/>
          <p:cNvSpPr/>
          <p:nvPr/>
        </p:nvSpPr>
        <p:spPr>
          <a:xfrm>
            <a:off x="411480" y="1243584"/>
            <a:ext cx="4709160" cy="3699439"/>
          </a:xfrm>
          <a:prstGeom prst="rect">
            <a:avLst/>
          </a:prstGeom>
          <a:noFill/>
          <a:ln/>
        </p:spPr>
        <p:txBody>
          <a:bodyPr wrap="square" lIns="0" tIns="0" rIns="0" bIns="0" rtlCol="0" anchor="t"/>
          <a:lstStyle/>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1.  上部タブで「日程調整中」「確定済み」「Google Meet送信済」を絞り込める。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2.  ドタキャン等で返金が必要な場合、対象行の【⚠ 申請者へ返金する】または【⚠ お相手へ返金する】ボタンを押す。</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3.  確認ダイアログでOKを押すと、Stripe側で返金が実行され、対象者へ返金完了メールが自動送信される。</a:t>
            </a:r>
            <a:endParaRPr lang="en-US" sz="1100" dirty="0"/>
          </a:p>
        </p:txBody>
      </p:sp>
      <p:sp>
        <p:nvSpPr>
          <p:cNvPr id="9" name="Shape 7"/>
          <p:cNvSpPr/>
          <p:nvPr/>
        </p:nvSpPr>
        <p:spPr>
          <a:xfrm>
            <a:off x="411480" y="3477949"/>
            <a:ext cx="4709160" cy="1421201"/>
          </a:xfrm>
          <a:prstGeom prst="roundRect">
            <a:avLst>
              <a:gd name="adj" fmla="val 3860"/>
            </a:avLst>
          </a:prstGeom>
          <a:solidFill>
            <a:srgbClr val="2A1B0F"/>
          </a:solidFill>
          <a:ln w="12700">
            <a:solidFill>
              <a:srgbClr val="F59E0B"/>
            </a:solidFill>
            <a:prstDash val="solid"/>
          </a:ln>
        </p:spPr>
      </p:sp>
      <p:sp>
        <p:nvSpPr>
          <p:cNvPr id="10" name="Text 8"/>
          <p:cNvSpPr/>
          <p:nvPr/>
        </p:nvSpPr>
        <p:spPr>
          <a:xfrm>
            <a:off x="548640" y="3569389"/>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1" name="Text 9"/>
          <p:cNvSpPr/>
          <p:nvPr/>
        </p:nvSpPr>
        <p:spPr>
          <a:xfrm>
            <a:off x="548640" y="3861997"/>
            <a:ext cx="4434840" cy="945713"/>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返金ボタンは片方ずつ独立している。「申請者側」「お相手側」のどちらに返金すべきかを、申請管理画面の入室状況・同意状況とあわせて必ず確認してから押す(実際に来た側にまで誤って返金しないよう注意)。</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返金は一度実行すると取り消せない。ボタンを押す前に、本当にドタキャン(相手都合の不参加)だったかを確認する。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返金完了メールは自動送信されるため、返金後に改めて本人へ個別連絡する必要はない。</a:t>
            </a:r>
            <a:endParaRPr lang="en-US" sz="830" dirty="0"/>
          </a:p>
        </p:txBody>
      </p:sp>
      <p:sp>
        <p:nvSpPr>
          <p:cNvPr id="12" name="Shape 10"/>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3" name="Image 0" descr="/sessions/busy-jolly-bardeen/mnt/Platonic_life_partnership/docs/admin-screenshots/06_schedule.png"/>
          <p:cNvPicPr>
            <a:picLocks noChangeAspect="1"/>
          </p:cNvPicPr>
          <p:nvPr/>
        </p:nvPicPr>
        <p:blipFill>
          <a:blip r:embed="rId3"/>
          <a:srcRect/>
          <a:stretch/>
        </p:blipFill>
        <p:spPr>
          <a:xfrm>
            <a:off x="5486400" y="1501296"/>
            <a:ext cx="6217920" cy="4367472"/>
          </a:xfrm>
          <a:prstGeom prst="rect">
            <a:avLst/>
          </a:prstGeom>
        </p:spPr>
      </p:pic>
      <p:sp>
        <p:nvSpPr>
          <p:cNvPr id="14" name="Text 11"/>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5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6</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休眠会員</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/admin/dormant</a:t>
            </a:r>
            <a:endParaRPr lang="en-US" sz="950" dirty="0"/>
          </a:p>
        </p:txBody>
      </p:sp>
      <p:sp>
        <p:nvSpPr>
          <p:cNvPr id="6" name="Shape 4"/>
          <p:cNvSpPr/>
          <p:nvPr/>
        </p:nvSpPr>
        <p:spPr>
          <a:xfrm>
            <a:off x="411480" y="896112"/>
            <a:ext cx="1463040" cy="274320"/>
          </a:xfrm>
          <a:prstGeom prst="roundRect">
            <a:avLst>
              <a:gd name="adj" fmla="val 50000"/>
            </a:avLst>
          </a:prstGeom>
          <a:solidFill>
            <a:srgbClr val="F59E0B"/>
          </a:solidFill>
          <a:ln/>
        </p:spPr>
      </p:sp>
      <p:sp>
        <p:nvSpPr>
          <p:cNvPr id="7" name="Text 5"/>
          <p:cNvSpPr/>
          <p:nvPr/>
        </p:nvSpPr>
        <p:spPr>
          <a:xfrm>
            <a:off x="411480" y="896112"/>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8" name="Text 6"/>
          <p:cNvSpPr/>
          <p:nvPr/>
        </p:nvSpPr>
        <p:spPr>
          <a:xfrm>
            <a:off x="411480" y="1243584"/>
            <a:ext cx="4709160" cy="3843471"/>
          </a:xfrm>
          <a:prstGeom prst="rect">
            <a:avLst/>
          </a:prstGeom>
          <a:noFill/>
          <a:ln/>
        </p:spPr>
        <p:txBody>
          <a:bodyPr wrap="square" lIns="0" tIns="0" rIns="0" bIns="0" rtlCol="0" anchor="t"/>
          <a:lstStyle/>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1.  上部の「3ヶ月以上」「6ヶ月以上」「12ヶ月以上」タブで、未ログイン期間別に会員を絞り込む。</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2.  個別に連絡したい会員がいれば【通知メール】ボタンを押す。既に送信済みの場合はボタンが【再送信】に変わる。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3.  確認ダイアログでOKを押すと送信される。</a:t>
            </a:r>
            <a:endParaRPr lang="en-US" sz="1100" dirty="0"/>
          </a:p>
        </p:txBody>
      </p:sp>
      <p:sp>
        <p:nvSpPr>
          <p:cNvPr id="9" name="Shape 7"/>
          <p:cNvSpPr/>
          <p:nvPr/>
        </p:nvSpPr>
        <p:spPr>
          <a:xfrm>
            <a:off x="411480" y="3376447"/>
            <a:ext cx="4709160" cy="1277169"/>
          </a:xfrm>
          <a:prstGeom prst="roundRect">
            <a:avLst>
              <a:gd name="adj" fmla="val 4296"/>
            </a:avLst>
          </a:prstGeom>
          <a:solidFill>
            <a:srgbClr val="2A1B0F"/>
          </a:solidFill>
          <a:ln w="12700">
            <a:solidFill>
              <a:srgbClr val="F59E0B"/>
            </a:solidFill>
            <a:prstDash val="solid"/>
          </a:ln>
        </p:spPr>
      </p:sp>
      <p:sp>
        <p:nvSpPr>
          <p:cNvPr id="10" name="Text 8"/>
          <p:cNvSpPr/>
          <p:nvPr/>
        </p:nvSpPr>
        <p:spPr>
          <a:xfrm>
            <a:off x="548640" y="3467887"/>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1" name="Text 9"/>
          <p:cNvSpPr/>
          <p:nvPr/>
        </p:nvSpPr>
        <p:spPr>
          <a:xfrm>
            <a:off x="548640" y="3760495"/>
            <a:ext cx="4434840" cy="801681"/>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自動通知バッチは335日(約11ヶ月)以上未ログインの会員にしか送られない。3・6ヶ月タブに出てくる会員は、まだ自動では通知されないので、離脱を防ぎたい場合は手動での通知を検討する。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12ヶ月タブは離脱リスクが最も高い層。優先して目を通す。</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同じ会員に短期間で何度も再送信すると、迷惑に感じられる可能性がある点に留意する。</a:t>
            </a:r>
            <a:endParaRPr lang="en-US" sz="830" dirty="0"/>
          </a:p>
        </p:txBody>
      </p:sp>
      <p:sp>
        <p:nvSpPr>
          <p:cNvPr id="12" name="Shape 10"/>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3" name="Image 0" descr="/sessions/busy-jolly-bardeen/mnt/Platonic_life_partnership/docs/admin-screenshots/07_dormant.png"/>
          <p:cNvPicPr>
            <a:picLocks noChangeAspect="1"/>
          </p:cNvPicPr>
          <p:nvPr/>
        </p:nvPicPr>
        <p:blipFill>
          <a:blip r:embed="rId3"/>
          <a:srcRect/>
          <a:stretch/>
        </p:blipFill>
        <p:spPr>
          <a:xfrm>
            <a:off x="5486400" y="1501296"/>
            <a:ext cx="6217920" cy="4367472"/>
          </a:xfrm>
          <a:prstGeom prst="rect">
            <a:avLst/>
          </a:prstGeom>
        </p:spPr>
      </p:pic>
      <p:sp>
        <p:nvSpPr>
          <p:cNvPr id="14" name="Text 11"/>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6 / 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7</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データ出力</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/admin/export</a:t>
            </a:r>
            <a:endParaRPr lang="en-US" sz="950" dirty="0"/>
          </a:p>
        </p:txBody>
      </p:sp>
      <p:sp>
        <p:nvSpPr>
          <p:cNvPr id="6" name="Shape 4"/>
          <p:cNvSpPr/>
          <p:nvPr/>
        </p:nvSpPr>
        <p:spPr>
          <a:xfrm>
            <a:off x="411480" y="896112"/>
            <a:ext cx="1463040" cy="274320"/>
          </a:xfrm>
          <a:prstGeom prst="roundRect">
            <a:avLst>
              <a:gd name="adj" fmla="val 50000"/>
            </a:avLst>
          </a:prstGeom>
          <a:solidFill>
            <a:srgbClr val="F59E0B"/>
          </a:solidFill>
          <a:ln/>
        </p:spPr>
      </p:sp>
      <p:sp>
        <p:nvSpPr>
          <p:cNvPr id="7" name="Text 5"/>
          <p:cNvSpPr/>
          <p:nvPr/>
        </p:nvSpPr>
        <p:spPr>
          <a:xfrm>
            <a:off x="411480" y="896112"/>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8" name="Text 6"/>
          <p:cNvSpPr/>
          <p:nvPr/>
        </p:nvSpPr>
        <p:spPr>
          <a:xfrm>
            <a:off x="411480" y="1243584"/>
            <a:ext cx="4709160" cy="3900367"/>
          </a:xfrm>
          <a:prstGeom prst="rect">
            <a:avLst/>
          </a:prstGeom>
          <a:noFill/>
          <a:ln/>
        </p:spPr>
        <p:txBody>
          <a:bodyPr wrap="square" lIns="0" tIns="0" rIns="0" bIns="0" rtlCol="0" anchor="t"/>
          <a:lstStyle/>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1.  「会員データ」欄の【CSVダウンロード】ボタンを押すだけで、全ユーザー・退会済みユーザーのCSVがすぐにダウンロードされる。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2.  「アンケート・決済関連」欄も同様に、ボタン1つでお見合い後アンケート・成婚報告アンケート・返金履歴のCSVが出力される。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3.  画面下部の「ユーザー検索&amp;CSV出力」では、条件を指定して絞り込んだ結果だけをCSV出力できる。</a:t>
            </a:r>
            <a:endParaRPr lang="en-US" sz="1100" dirty="0"/>
          </a:p>
        </p:txBody>
      </p:sp>
      <p:sp>
        <p:nvSpPr>
          <p:cNvPr id="9" name="Shape 7"/>
          <p:cNvSpPr/>
          <p:nvPr/>
        </p:nvSpPr>
        <p:spPr>
          <a:xfrm>
            <a:off x="411480" y="3518010"/>
            <a:ext cx="4709160" cy="1220273"/>
          </a:xfrm>
          <a:prstGeom prst="roundRect">
            <a:avLst>
              <a:gd name="adj" fmla="val 4496"/>
            </a:avLst>
          </a:prstGeom>
          <a:solidFill>
            <a:srgbClr val="2A1B0F"/>
          </a:solidFill>
          <a:ln w="12700">
            <a:solidFill>
              <a:srgbClr val="F59E0B"/>
            </a:solidFill>
            <a:prstDash val="solid"/>
          </a:ln>
        </p:spPr>
      </p:sp>
      <p:sp>
        <p:nvSpPr>
          <p:cNvPr id="10" name="Text 8"/>
          <p:cNvSpPr/>
          <p:nvPr/>
        </p:nvSpPr>
        <p:spPr>
          <a:xfrm>
            <a:off x="548640" y="3609450"/>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1" name="Text 9"/>
          <p:cNvSpPr/>
          <p:nvPr/>
        </p:nvSpPr>
        <p:spPr>
          <a:xfrm>
            <a:off x="548640" y="3902058"/>
            <a:ext cx="4434840" cy="744785"/>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出力されるCSVには氏名・メールアドレス・電話番号など個人情報が含まれる。ダウンロード後のファイルは共有・保管方法に注意し、不要になったら削除する。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会員情報CSVには申請・キャンセル・返金の実績列(全22列)も含まれるため、目的に応じて必要な列だけを見るようにする(全件をそのまま他部署等へ渡さない)。</a:t>
            </a:r>
            <a:endParaRPr lang="en-US" sz="830" dirty="0"/>
          </a:p>
        </p:txBody>
      </p:sp>
      <p:sp>
        <p:nvSpPr>
          <p:cNvPr id="12" name="Shape 10"/>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3" name="Image 0" descr="/sessions/busy-jolly-bardeen/mnt/Platonic_life_partnership/docs/admin-screenshots/08_export.png"/>
          <p:cNvPicPr>
            <a:picLocks noChangeAspect="1"/>
          </p:cNvPicPr>
          <p:nvPr/>
        </p:nvPicPr>
        <p:blipFill>
          <a:blip r:embed="rId3"/>
          <a:srcRect/>
          <a:stretch/>
        </p:blipFill>
        <p:spPr>
          <a:xfrm>
            <a:off x="5486400" y="1501296"/>
            <a:ext cx="6217920" cy="4367472"/>
          </a:xfrm>
          <a:prstGeom prst="rect">
            <a:avLst/>
          </a:prstGeom>
        </p:spPr>
      </p:pic>
      <p:sp>
        <p:nvSpPr>
          <p:cNvPr id="14" name="Text 11"/>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7 / 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411480" y="274320"/>
            <a:ext cx="384048" cy="384048"/>
          </a:xfrm>
          <a:prstGeom prst="ellipse">
            <a:avLst/>
          </a:prstGeom>
          <a:solidFill>
            <a:srgbClr val="0F766E"/>
          </a:solidFill>
          <a:ln/>
        </p:spPr>
      </p:sp>
      <p:sp>
        <p:nvSpPr>
          <p:cNvPr id="3" name="Text 1"/>
          <p:cNvSpPr/>
          <p:nvPr/>
        </p:nvSpPr>
        <p:spPr>
          <a:xfrm>
            <a:off x="411480" y="2743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8</a:t>
            </a:r>
            <a:endParaRPr lang="en-US" sz="1200" dirty="0"/>
          </a:p>
        </p:txBody>
      </p:sp>
      <p:sp>
        <p:nvSpPr>
          <p:cNvPr id="4" name="Text 2"/>
          <p:cNvSpPr/>
          <p:nvPr/>
        </p:nvSpPr>
        <p:spPr>
          <a:xfrm>
            <a:off x="914400" y="237744"/>
            <a:ext cx="6858000" cy="310896"/>
          </a:xfrm>
          <a:prstGeom prst="rect">
            <a:avLst/>
          </a:prstGeom>
          <a:noFill/>
          <a:ln/>
        </p:spPr>
        <p:txBody>
          <a:bodyPr wrap="square" lIns="0" tIns="0" rIns="0" bIns="0"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設定</a:t>
            </a:r>
            <a:endParaRPr lang="en-US" sz="1600" dirty="0"/>
          </a:p>
        </p:txBody>
      </p:sp>
      <p:sp>
        <p:nvSpPr>
          <p:cNvPr id="5" name="Text 3"/>
          <p:cNvSpPr/>
          <p:nvPr/>
        </p:nvSpPr>
        <p:spPr>
          <a:xfrm>
            <a:off x="914400" y="548640"/>
            <a:ext cx="6858000" cy="237744"/>
          </a:xfrm>
          <a:prstGeom prst="rect">
            <a:avLst/>
          </a:prstGeom>
          <a:noFill/>
          <a:ln/>
        </p:spPr>
        <p:txBody>
          <a:bodyPr wrap="square" lIns="0" tIns="0" rIns="0" bIns="0" rtlCol="0" anchor="ctr"/>
          <a:lstStyle/>
          <a:p>
            <a:pPr marL="0" indent="0">
              <a:buNone/>
            </a:pPr>
            <a:r>
              <a:rPr lang="en-US" sz="950" dirty="0">
                <a:solidFill>
                  <a:srgbClr val="14B8A6"/>
                </a:solidFill>
                <a:latin typeface="游ゴシック" pitchFamily="34" charset="0"/>
                <a:ea typeface="游ゴシック" pitchFamily="34" charset="-122"/>
                <a:cs typeface="游ゴシック" pitchFamily="34" charset="-120"/>
              </a:rPr>
              <a:t>/admin/settings</a:t>
            </a:r>
            <a:endParaRPr lang="en-US" sz="950" dirty="0"/>
          </a:p>
        </p:txBody>
      </p:sp>
      <p:sp>
        <p:nvSpPr>
          <p:cNvPr id="6" name="Shape 4"/>
          <p:cNvSpPr/>
          <p:nvPr/>
        </p:nvSpPr>
        <p:spPr>
          <a:xfrm>
            <a:off x="411480" y="896112"/>
            <a:ext cx="1463040" cy="274320"/>
          </a:xfrm>
          <a:prstGeom prst="roundRect">
            <a:avLst>
              <a:gd name="adj" fmla="val 50000"/>
            </a:avLst>
          </a:prstGeom>
          <a:solidFill>
            <a:srgbClr val="F59E0B"/>
          </a:solidFill>
          <a:ln/>
        </p:spPr>
      </p:sp>
      <p:sp>
        <p:nvSpPr>
          <p:cNvPr id="7" name="Text 5"/>
          <p:cNvSpPr/>
          <p:nvPr/>
        </p:nvSpPr>
        <p:spPr>
          <a:xfrm>
            <a:off x="411480" y="896112"/>
            <a:ext cx="1463040" cy="274320"/>
          </a:xfrm>
          <a:prstGeom prst="rect">
            <a:avLst/>
          </a:prstGeom>
          <a:noFill/>
          <a:ln/>
        </p:spPr>
        <p:txBody>
          <a:bodyPr wrap="square" lIns="0" tIns="0" rIns="0" bIns="0" rtlCol="0" anchor="ctr"/>
          <a:lstStyle/>
          <a:p>
            <a:pPr marL="0" indent="0" algn="ctr">
              <a:buNone/>
            </a:pPr>
            <a:r>
              <a:rPr lang="en-US" sz="1050" b="1" dirty="0">
                <a:solidFill>
                  <a:srgbClr val="3A2400"/>
                </a:solidFill>
                <a:latin typeface="游ゴシック" pitchFamily="34" charset="0"/>
                <a:ea typeface="游ゴシック" pitchFamily="34" charset="-122"/>
                <a:cs typeface="游ゴシック" pitchFamily="34" charset="-120"/>
              </a:rPr>
              <a:t>操作の手順</a:t>
            </a:r>
            <a:endParaRPr lang="en-US" sz="1050" dirty="0"/>
          </a:p>
        </p:txBody>
      </p:sp>
      <p:sp>
        <p:nvSpPr>
          <p:cNvPr id="8" name="Text 6"/>
          <p:cNvSpPr/>
          <p:nvPr/>
        </p:nvSpPr>
        <p:spPr>
          <a:xfrm>
            <a:off x="411480" y="1243584"/>
            <a:ext cx="4709160" cy="3210446"/>
          </a:xfrm>
          <a:prstGeom prst="rect">
            <a:avLst/>
          </a:prstGeom>
          <a:noFill/>
          <a:ln/>
        </p:spPr>
        <p:txBody>
          <a:bodyPr wrap="square" lIns="0" tIns="0" rIns="0" bIns="0" rtlCol="0" anchor="t"/>
          <a:lstStyle/>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1.  「基本設定」「メンテナンスモード」「お知らせバナー設定」「機能ON/OFF設定」の各枠は、それぞれ独立した【保存】ボタンを持つ。</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2.  「AIおすすめオプション」をOFFにする際は、契約中の会員全員のStripe請求を自動で一時停止するかどうかの確認モーダルが出る。</a:t>
            </a:r>
            <a:endParaRPr lang="en-US" sz="1100" dirty="0"/>
          </a:p>
          <a:p>
            <a:pPr marL="0" indent="0">
              <a:lnSpc>
                <a:spcPct val="115000"/>
              </a:lnSpc>
              <a:spcAft>
                <a:spcPts val="900"/>
              </a:spcAft>
              <a:buNone/>
            </a:pPr>
            <a:r>
              <a:rPr lang="en-US" sz="1100" dirty="0">
                <a:solidFill>
                  <a:srgbClr val="F4F4F5"/>
                </a:solidFill>
                <a:latin typeface="游ゴシック" pitchFamily="34" charset="0"/>
                <a:ea typeface="游ゴシック" pitchFamily="34" charset="-122"/>
                <a:cs typeface="游ゴシック" pitchFamily="34" charset="-120"/>
              </a:rPr>
              <a:t>3.  「お知らせバナー設定」はON/OFFで即座にトップページへの表示が切り替わる。</a:t>
            </a:r>
            <a:endParaRPr lang="en-US" sz="1100" dirty="0"/>
          </a:p>
        </p:txBody>
      </p:sp>
      <p:sp>
        <p:nvSpPr>
          <p:cNvPr id="9" name="Shape 7"/>
          <p:cNvSpPr/>
          <p:nvPr/>
        </p:nvSpPr>
        <p:spPr>
          <a:xfrm>
            <a:off x="411480" y="3217559"/>
            <a:ext cx="4709160" cy="1910194"/>
          </a:xfrm>
          <a:prstGeom prst="roundRect">
            <a:avLst>
              <a:gd name="adj" fmla="val 2872"/>
            </a:avLst>
          </a:prstGeom>
          <a:solidFill>
            <a:srgbClr val="2A1B0F"/>
          </a:solidFill>
          <a:ln w="12700">
            <a:solidFill>
              <a:srgbClr val="F59E0B"/>
            </a:solidFill>
            <a:prstDash val="solid"/>
          </a:ln>
        </p:spPr>
      </p:sp>
      <p:sp>
        <p:nvSpPr>
          <p:cNvPr id="10" name="Text 8"/>
          <p:cNvSpPr/>
          <p:nvPr/>
        </p:nvSpPr>
        <p:spPr>
          <a:xfrm>
            <a:off x="548640" y="3308999"/>
            <a:ext cx="4434840" cy="256032"/>
          </a:xfrm>
          <a:prstGeom prst="rect">
            <a:avLst/>
          </a:prstGeom>
          <a:noFill/>
          <a:ln/>
        </p:spPr>
        <p:txBody>
          <a:bodyPr wrap="square" lIns="0" tIns="0" rIns="0" bIns="0" rtlCol="0" anchor="ctr"/>
          <a:lstStyle/>
          <a:p>
            <a:pPr marL="0" indent="0">
              <a:buNone/>
            </a:pPr>
            <a:r>
              <a:rPr lang="en-US" sz="1150" b="1" dirty="0">
                <a:solidFill>
                  <a:srgbClr val="F59E0B"/>
                </a:solidFill>
                <a:latin typeface="游ゴシック" pitchFamily="34" charset="0"/>
                <a:ea typeface="游ゴシック" pitchFamily="34" charset="-122"/>
                <a:cs typeface="游ゴシック" pitchFamily="34" charset="-120"/>
              </a:rPr>
              <a:t>⚠ 注意点・必ず確認すること</a:t>
            </a:r>
            <a:endParaRPr lang="en-US" sz="1150" dirty="0"/>
          </a:p>
        </p:txBody>
      </p:sp>
      <p:sp>
        <p:nvSpPr>
          <p:cNvPr id="11" name="Text 9"/>
          <p:cNvSpPr/>
          <p:nvPr/>
        </p:nvSpPr>
        <p:spPr>
          <a:xfrm>
            <a:off x="548640" y="3601607"/>
            <a:ext cx="4434840" cy="1434706"/>
          </a:xfrm>
          <a:prstGeom prst="rect">
            <a:avLst/>
          </a:prstGeom>
          <a:noFill/>
          <a:ln/>
        </p:spPr>
        <p:txBody>
          <a:bodyPr wrap="square" lIns="0" tIns="0" rIns="0" bIns="0" rtlCol="0" anchor="t"/>
          <a:lstStyle/>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メンテナンスモードをONにする前に、確定済みのお見合い予定と時間が重なっていないか必ず確認する(同じ設定画面に重複チェック機能がある想定)。重なっていると、その時間帯は会員がサイトに入れなくなる。</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「AIおすすめオプション」OFF時の確認モーダルで、契約者への請求を一時停止するかどうかのチェックボックスを必ず確認してから保存する。意図せず全契約者の請求を止めてしまわないよう注意。</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「障害・緊急のお知らせ」でメール送信のチェックを入れると、退会済み・管理者を除く全会員へ一斉送信される。文面を保存前に必ず読み返す。</a:t>
            </a:r>
            <a:endParaRPr lang="en-US" sz="830" dirty="0"/>
          </a:p>
          <a:p>
            <a:pPr marL="177800" indent="-177800">
              <a:lnSpc>
                <a:spcPct val="100000"/>
              </a:lnSpc>
              <a:spcAft>
                <a:spcPts val="400"/>
              </a:spcAft>
              <a:buSzPct val="100000"/>
              <a:buChar char="⚠"/>
            </a:pPr>
            <a:r>
              <a:rPr lang="en-US" sz="830" dirty="0">
                <a:solidFill>
                  <a:srgbClr val="F4F4F5"/>
                </a:solidFill>
                <a:latin typeface="游ゴシック" pitchFamily="34" charset="0"/>
                <a:ea typeface="游ゴシック" pitchFamily="34" charset="-122"/>
                <a:cs typeface="游ゴシック" pitchFamily="34" charset="-120"/>
              </a:rPr>
              <a:t>右側「設定値の確認(変更不可)」枠は表示専用。ここを変更しても実際の動作には反映されない(誤解しないよう注意)。</a:t>
            </a:r>
            <a:endParaRPr lang="en-US" sz="830" dirty="0"/>
          </a:p>
        </p:txBody>
      </p:sp>
      <p:sp>
        <p:nvSpPr>
          <p:cNvPr id="12" name="Shape 10"/>
          <p:cNvSpPr/>
          <p:nvPr/>
        </p:nvSpPr>
        <p:spPr>
          <a:xfrm>
            <a:off x="5440680" y="1455576"/>
            <a:ext cx="6309360" cy="4458912"/>
          </a:xfrm>
          <a:prstGeom prst="roundRect">
            <a:avLst>
              <a:gd name="adj" fmla="val 820"/>
            </a:avLst>
          </a:prstGeom>
          <a:solidFill>
            <a:srgbClr val="0B0B0D"/>
          </a:solidFill>
          <a:ln w="12700">
            <a:solidFill>
              <a:srgbClr val="3F3F46"/>
            </a:solidFill>
            <a:prstDash val="solid"/>
          </a:ln>
          <a:effectLst>
            <a:outerShdw blurRad="101600" dist="38100" dir="5400000" algn="bl" rotWithShape="0">
              <a:srgbClr val="000000">
                <a:alpha val="35000"/>
              </a:srgbClr>
            </a:outerShdw>
          </a:effectLst>
        </p:spPr>
      </p:sp>
      <p:pic>
        <p:nvPicPr>
          <p:cNvPr id="13" name="Image 0" descr="/sessions/busy-jolly-bardeen/mnt/Platonic_life_partnership/docs/admin-screenshots/09_settings.png"/>
          <p:cNvPicPr>
            <a:picLocks noChangeAspect="1"/>
          </p:cNvPicPr>
          <p:nvPr/>
        </p:nvPicPr>
        <p:blipFill>
          <a:blip r:embed="rId3"/>
          <a:srcRect/>
          <a:stretch/>
        </p:blipFill>
        <p:spPr>
          <a:xfrm>
            <a:off x="5486400" y="1501296"/>
            <a:ext cx="6217920" cy="4367472"/>
          </a:xfrm>
          <a:prstGeom prst="rect">
            <a:avLst/>
          </a:prstGeom>
        </p:spPr>
      </p:pic>
      <p:sp>
        <p:nvSpPr>
          <p:cNvPr id="14" name="Text 11"/>
          <p:cNvSpPr/>
          <p:nvPr/>
        </p:nvSpPr>
        <p:spPr>
          <a:xfrm>
            <a:off x="11338560" y="6492240"/>
            <a:ext cx="640080" cy="274320"/>
          </a:xfrm>
          <a:prstGeom prst="rect">
            <a:avLst/>
          </a:prstGeom>
          <a:noFill/>
          <a:ln/>
        </p:spPr>
        <p:txBody>
          <a:bodyPr wrap="square" lIns="0" tIns="0" rIns="0" bIns="0" rtlCol="0" anchor="ctr"/>
          <a:lstStyle/>
          <a:p>
            <a:pPr marL="0" indent="0" algn="r">
              <a:buNone/>
            </a:pPr>
            <a:r>
              <a:rPr lang="en-US" sz="1000" dirty="0">
                <a:solidFill>
                  <a:srgbClr val="A1A1AA"/>
                </a:solidFill>
                <a:latin typeface="游ゴシック" pitchFamily="34" charset="0"/>
                <a:ea typeface="游ゴシック" pitchFamily="34" charset="-122"/>
                <a:cs typeface="游ゴシック" pitchFamily="34" charset="-120"/>
              </a:rPr>
              <a:t>8 / 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181B"/>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F766E">
              <a:alpha val="25000"/>
            </a:srgbClr>
          </a:solidFill>
          <a:ln/>
        </p:spPr>
      </p:sp>
      <p:sp>
        <p:nvSpPr>
          <p:cNvPr id="3" name="Text 1"/>
          <p:cNvSpPr/>
          <p:nvPr/>
        </p:nvSpPr>
        <p:spPr>
          <a:xfrm>
            <a:off x="822960" y="2194560"/>
            <a:ext cx="9144000" cy="640080"/>
          </a:xfrm>
          <a:prstGeom prst="rect">
            <a:avLst/>
          </a:prstGeom>
          <a:noFill/>
          <a:ln/>
        </p:spPr>
        <p:txBody>
          <a:bodyPr wrap="square" lIns="0" tIns="0" rIns="0" bIns="0" rtlCol="0" anchor="ctr"/>
          <a:lstStyle/>
          <a:p>
            <a:pPr marL="0" indent="0">
              <a:buNone/>
            </a:pPr>
            <a:r>
              <a:rPr lang="en-US" sz="3400" b="1" dirty="0">
                <a:solidFill>
                  <a:srgbClr val="FFFFFF"/>
                </a:solidFill>
                <a:latin typeface="游ゴシック" pitchFamily="34" charset="0"/>
                <a:ea typeface="游ゴシック" pitchFamily="34" charset="-122"/>
                <a:cs typeface="游ゴシック" pitchFamily="34" charset="-120"/>
              </a:rPr>
              <a:t>補足</a:t>
            </a:r>
            <a:endParaRPr lang="en-US" sz="3400" dirty="0"/>
          </a:p>
        </p:txBody>
      </p:sp>
      <p:sp>
        <p:nvSpPr>
          <p:cNvPr id="4" name="Text 2"/>
          <p:cNvSpPr/>
          <p:nvPr/>
        </p:nvSpPr>
        <p:spPr>
          <a:xfrm>
            <a:off x="868680" y="3017520"/>
            <a:ext cx="10332720" cy="3200400"/>
          </a:xfrm>
          <a:prstGeom prst="rect">
            <a:avLst/>
          </a:prstGeom>
          <a:noFill/>
          <a:ln/>
        </p:spPr>
        <p:txBody>
          <a:bodyPr wrap="square" lIns="0" tIns="0" rIns="0" bIns="0" rtlCol="0" anchor="t"/>
          <a:lstStyle/>
          <a:p>
            <a:pPr marL="228600" indent="-228600">
              <a:lnSpc>
                <a:spcPct val="122000"/>
              </a:lnSpc>
              <a:spcAft>
                <a:spcPts val="1200"/>
              </a:spcAft>
              <a:buSzPct val="100000"/>
              <a:buChar char="•"/>
            </a:pPr>
            <a:r>
              <a:rPr lang="en-US" sz="1350" dirty="0">
                <a:solidFill>
                  <a:srgbClr val="F4F4F5"/>
                </a:solidFill>
                <a:latin typeface="游ゴシック" pitchFamily="34" charset="0"/>
                <a:ea typeface="游ゴシック" pitchFamily="34" charset="-122"/>
                <a:cs typeface="游ゴシック" pitchFamily="34" charset="-120"/>
              </a:rPr>
              <a:t>多くの画面は「ステータス」という共通の考え方で動いています。ボタンを押す=ステータスを次の段階に進める、という操作がほとんどです。</a:t>
            </a:r>
            <a:endParaRPr lang="en-US" sz="1350" dirty="0"/>
          </a:p>
          <a:p>
            <a:pPr marL="228600" indent="-228600">
              <a:lnSpc>
                <a:spcPct val="122000"/>
              </a:lnSpc>
              <a:spcAft>
                <a:spcPts val="1200"/>
              </a:spcAft>
              <a:buSzPct val="100000"/>
              <a:buChar char="•"/>
            </a:pPr>
            <a:r>
              <a:rPr lang="en-US" sz="1350" dirty="0">
                <a:solidFill>
                  <a:srgbClr val="F4F4F5"/>
                </a:solidFill>
                <a:latin typeface="游ゴシック" pitchFamily="34" charset="0"/>
                <a:ea typeface="游ゴシック" pitchFamily="34" charset="-122"/>
                <a:cs typeface="游ゴシック" pitchFamily="34" charset="-120"/>
              </a:rPr>
              <a:t>会員管理と本人確認審査は、実は同じ「会員のステータス」を、それぞれ別の見え方(一覧の切り口)で操作している画面です。</a:t>
            </a:r>
            <a:endParaRPr lang="en-US" sz="1350" dirty="0"/>
          </a:p>
          <a:p>
            <a:pPr marL="228600" indent="-228600">
              <a:lnSpc>
                <a:spcPct val="122000"/>
              </a:lnSpc>
              <a:spcAft>
                <a:spcPts val="1200"/>
              </a:spcAft>
              <a:buSzPct val="100000"/>
              <a:buChar char="•"/>
            </a:pPr>
            <a:r>
              <a:rPr lang="en-US" sz="1350" dirty="0">
                <a:solidFill>
                  <a:srgbClr val="F4F4F5"/>
                </a:solidFill>
                <a:latin typeface="游ゴシック" pitchFamily="34" charset="0"/>
                <a:ea typeface="游ゴシック" pitchFamily="34" charset="-122"/>
                <a:cs typeface="游ゴシック" pitchFamily="34" charset="-120"/>
              </a:rPr>
              <a:t>申請管理の状態変化(申請中→日程調整中→完了)は、基本的に会員同士のやり取りでシステムが自動的に進めます。管理者の手動操作は、トラブル時のフォローや返金など例外対応が中心です。</a:t>
            </a:r>
            <a:endParaRPr lang="en-US" sz="1350" dirty="0"/>
          </a:p>
          <a:p>
            <a:pPr marL="228600" indent="-228600">
              <a:lnSpc>
                <a:spcPct val="122000"/>
              </a:lnSpc>
              <a:spcAft>
                <a:spcPts val="1200"/>
              </a:spcAft>
              <a:buSzPct val="100000"/>
              <a:buChar char="•"/>
            </a:pPr>
            <a:r>
              <a:rPr lang="en-US" sz="1350" dirty="0">
                <a:solidFill>
                  <a:srgbClr val="F4F4F5"/>
                </a:solidFill>
                <a:latin typeface="游ゴシック" pitchFamily="34" charset="0"/>
                <a:ea typeface="游ゴシック" pitchFamily="34" charset="-122"/>
                <a:cs typeface="游ゴシック" pitchFamily="34" charset="-120"/>
              </a:rPr>
              <a:t>各画面右側の「⚠ 注意点」は、放置するとサービス運営上の問題につながりやすい項目をまとめたものです。日々の運用ではまずここを優先して確認してください。</a:t>
            </a:r>
            <a:endParaRPr lang="en-US" sz="1350" dirty="0"/>
          </a:p>
          <a:p>
            <a:pPr marL="228600" indent="-228600">
              <a:lnSpc>
                <a:spcPct val="122000"/>
              </a:lnSpc>
              <a:spcAft>
                <a:spcPts val="1200"/>
              </a:spcAft>
              <a:buSzPct val="100000"/>
              <a:buChar char="•"/>
            </a:pPr>
            <a:r>
              <a:rPr lang="en-US" sz="1350" dirty="0">
                <a:solidFill>
                  <a:srgbClr val="F4F4F5"/>
                </a:solidFill>
                <a:latin typeface="游ゴシック" pitchFamily="34" charset="0"/>
                <a:ea typeface="游ゴシック" pitchFamily="34" charset="-122"/>
                <a:cs typeface="游ゴシック" pitchFamily="34" charset="-120"/>
              </a:rPr>
              <a:t>操作に迷ったら、「できる事・できない事 手順書」とあわせて確認してください。</a:t>
            </a:r>
            <a:endParaRPr lang="en-US" sz="1350" dirty="0"/>
          </a:p>
        </p:txBody>
      </p:sp>
      <p:sp>
        <p:nvSpPr>
          <p:cNvPr id="5" name="Text 3"/>
          <p:cNvSpPr/>
          <p:nvPr/>
        </p:nvSpPr>
        <p:spPr>
          <a:xfrm>
            <a:off x="822960" y="6400800"/>
            <a:ext cx="7315200" cy="320040"/>
          </a:xfrm>
          <a:prstGeom prst="rect">
            <a:avLst/>
          </a:prstGeom>
          <a:noFill/>
          <a:ln/>
        </p:spPr>
        <p:txBody>
          <a:bodyPr wrap="square" lIns="0" tIns="0" rIns="0" bIns="0" rtlCol="0" anchor="ctr"/>
          <a:lstStyle/>
          <a:p>
            <a:pPr marL="0" indent="0">
              <a:buNone/>
            </a:pPr>
            <a:r>
              <a:rPr lang="en-US" sz="1100" dirty="0">
                <a:solidFill>
                  <a:srgbClr val="A1A1AA"/>
                </a:solidFill>
                <a:latin typeface="游ゴシック" pitchFamily="34" charset="0"/>
                <a:ea typeface="游ゴシック" pitchFamily="34" charset="-122"/>
                <a:cs typeface="游ゴシック" pitchFamily="34" charset="-120"/>
              </a:rPr>
              <a:t>docs/tasks.md タスク#70 より</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1199</Words>
  <Application>Microsoft Office PowerPoint</Application>
  <PresentationFormat>ワイド画面</PresentationFormat>
  <Paragraphs>179</Paragraphs>
  <Slides>12</Slides>
  <Notes>12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amista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amista</dc:creator>
  <cp:lastModifiedBy>WS001</cp:lastModifiedBy>
  <cp:revision>2</cp:revision>
  <dcterms:created xsi:type="dcterms:W3CDTF">2026-07-21T05:05:57Z</dcterms:created>
  <dcterms:modified xsi:type="dcterms:W3CDTF">2026-07-21T05:13:45Z</dcterms:modified>
</cp:coreProperties>
</file>